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3" d="2"/>
        <a:sy n="3" d="2"/>
      </p:scale>
      <p:origin x="0" y="-5"/>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Bài toán của nhóm em khá đơn giản: người tìm nhà thường nói nhu cầu theo cách rất đời thường, còn sale lại cần thông tin rõ để tư vấn và xếp lịch. Sản phẩm của nhóm em dùng AI làm phần ở giữa: hiểu nhu cầu, hỏi thêm khi thiếu, gợi ý căn phù hợp và hỗ trợ đặt lịch xem nhà.</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AI có hai nhóm người dùng chính. Với người mua hoặc thuê, họ chỉ cần nói nhu cầu như đang nhắn tin; hệ thống sẽ hỏi thêm và lọc căn. Với sale, AI chuyển sang một hồ sơ đã có ngân sách, tiêu chí và căn quan tâm. Vì vậy sale không phải hỏi lại mọi thứ từ đầu, nhưng sale vẫn là người xác nhận cuối cùng.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Luồng hoạt động có thể hiểu rất đời thường. Khách vào web, nói muốn mua hay thuê và mô tả nhu cầu. AI xem thông tin đã đủ chưa; thiếu thì hỏi thêm, có mâu thuẫn thì hỏi khách ưu tiên cái gì. Khi đủ dữ liệu, hệ thống lọc và so sánh các căn. Khách chọn phương án thì hồ sơ được chuyển cho sale; sau đó hệ thống kiểm tra lịch, đề xuất giờ và chỉ lưu lịch khi sale xác nhận.</a:t>
            </a:r>
          </a:p>
          <a:p>
            <a:endParaRPr/>
          </a:p>
          <a:p>
            <a:r>
              <a:t>[Sources]</a:t>
            </a:r>
          </a:p>
          <a:p>
            <a:r>
              <a:t>- User-provided image: C:\Users\Admin\AppData\Local\Temp\codex-clipboard-b6774342-7299-4d27-9bfe-b63761aac880.png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Nhóm em tập trung xử lý ba vấn đề chính. Một là nhu cầu mơ hồ: AI không đoán mà hỏi lại. Hai là sale nhận lead thiếu thông tin: hệ thống tạo hồ sơ rõ ràng để sale xử lý tiếp. Ba là trùng lịch: hệ thống kiểm tra lịch trống và vẫn yêu cầu sale xác nhận trước khi chốt. Nếu giờ khách chọn không phù hợp thì hệ thống đề xuất giờ khác.</a:t>
            </a:r>
          </a:p>
          <a:p>
            <a:endParaRPr/>
          </a:p>
          <a:p>
            <a:r>
              <a:t>[Sources]</a:t>
            </a:r>
          </a:p>
          <a:p>
            <a:r>
              <a:t>- User-provided image: C:\Users\Admin\AppData\Local\Temp\codex-clipboard-d9c09d47-520f-4c91-86e5-cd502dff77df.png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Hiện tại điểm nhóm em đang vướng là dataset. Dữ liệu căn còn cần chuẩn hóa và phải gắn được với trạng thái thực tế, còn lịch sale cũng phải đủ để kiểm tra. Cách xử lý là chốt các trường bắt buộc, tạo một bộ dữ liệu mẫu đủ cho demo, thêm cả tình huống thiếu dữ liệu để test việc AI hỏi lại. Nguyên tắc của nhóm là thiếu thì hỏi, không có dữ liệu thì không kết luận. Mốc gần nhất là chạy trọn một luồng từ nhu cầu đến lịch hẹn.</a:t>
            </a:r>
          </a:p>
          <a:p>
            <a:endParaRPr/>
          </a:p>
          <a:p>
            <a:r>
              <a:t>[Sources]</a:t>
            </a:r>
          </a:p>
          <a:p>
            <a:r>
              <a:t>- User-provided image: C:\Users\Admin\AppData\Local\Temp\codex-clipboard-41e052f0-5ba5-4d71-bb15-17d61f4d9f97.png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B0924089-828F-4092-869B-D0192E1EC9DE}"/>
              </a:ext>
            </a:extLst>
          </p:cNvPr>
          <p:cNvSpPr>
            <a:spLocks noGrp="1"/>
          </p:cNvSpPr>
          <p:nvPr/>
        </p:nvSpPr>
        <p:spPr>
          <a:xfrm>
            <a:off x="0" y="0"/>
            <a:ext cx="171450" cy="6858000"/>
          </a:xfrm>
          <a:prstGeom prst="rect">
            <a:avLst/>
          </a:prstGeom>
          <a:solidFill>
            <a:srgbClr val="2878D0"/>
          </a:solidFill>
          <a:ln w="0">
            <a:solidFill>
              <a:srgbClr val="2878D0"/>
            </a:solidFill>
            <a:prstDash val="solid"/>
          </a:ln>
        </p:spPr>
        <p:txBody>
          <a:bodyPr/>
          <a:lstStyle/>
          <a:p>
            <a:endParaRPr lang="en-US"/>
          </a:p>
        </p:txBody>
      </p:sp>
      <p:sp>
        <p:nvSpPr>
          <p:cNvPr id="2" name="Rectangle 1">
            <a:extLst>
              <a:ext uri="{FF2B5EF4-FFF2-40B4-BE49-F238E27FC236}">
                <a16:creationId xmlns:a16="http://schemas.microsoft.com/office/drawing/2014/main" id="{3FFB31CE-FE47-4860-84BA-24F3ED030320}"/>
              </a:ext>
            </a:extLst>
          </p:cNvPr>
          <p:cNvSpPr>
            <a:spLocks noGrp="1"/>
          </p:cNvSpPr>
          <p:nvPr/>
        </p:nvSpPr>
        <p:spPr>
          <a:xfrm>
            <a:off x="666750" y="742950"/>
            <a:ext cx="4953000" cy="285750"/>
          </a:xfrm>
          <a:prstGeom prst="rect">
            <a:avLst/>
          </a:prstGeom>
          <a:noFill/>
          <a:ln w="0">
            <a:noFill/>
            <a:prstDash val="solid"/>
          </a:ln>
        </p:spPr>
        <p:txBody>
          <a:bodyPr anchor="ctr"/>
          <a:lstStyle/>
          <a:p>
            <a:pPr algn="l">
              <a:defRPr sz="1200" b="1">
                <a:solidFill>
                  <a:srgbClr val="2878D0"/>
                </a:solidFill>
              </a:defRPr>
            </a:pPr>
            <a:r>
              <a:rPr sz="1200" b="1">
                <a:solidFill>
                  <a:srgbClr val="2878D0"/>
                </a:solidFill>
              </a:rPr>
              <a:t>AI TRỢ LÝ TÌM NHÀ</a:t>
            </a:r>
          </a:p>
        </p:txBody>
      </p:sp>
      <p:sp>
        <p:nvSpPr>
          <p:cNvPr id="3" name="Rectangle 2">
            <a:extLst>
              <a:ext uri="{FF2B5EF4-FFF2-40B4-BE49-F238E27FC236}">
                <a16:creationId xmlns:a16="http://schemas.microsoft.com/office/drawing/2014/main" id="{837B8454-6729-44DF-BB27-E9283DB93333}"/>
              </a:ext>
            </a:extLst>
          </p:cNvPr>
          <p:cNvSpPr>
            <a:spLocks noGrp="1"/>
          </p:cNvSpPr>
          <p:nvPr/>
        </p:nvSpPr>
        <p:spPr>
          <a:xfrm>
            <a:off x="666750" y="1219200"/>
            <a:ext cx="6858000" cy="1352550"/>
          </a:xfrm>
          <a:prstGeom prst="rect">
            <a:avLst/>
          </a:prstGeom>
          <a:noFill/>
          <a:ln w="0">
            <a:noFill/>
            <a:prstDash val="solid"/>
          </a:ln>
        </p:spPr>
        <p:txBody>
          <a:bodyPr anchor="ctr"/>
          <a:lstStyle/>
          <a:p>
            <a:pPr algn="l">
              <a:defRPr sz="4050" b="1">
                <a:solidFill>
                  <a:srgbClr val="102A5E"/>
                </a:solidFill>
              </a:defRPr>
            </a:pPr>
            <a:r>
              <a:rPr sz="4050" b="1">
                <a:solidFill>
                  <a:srgbClr val="102A5E"/>
                </a:solidFill>
              </a:rPr>
              <a:t>Nói nhu cầu một lần.</a:t>
            </a:r>
          </a:p>
          <a:p>
            <a:pPr algn="l">
              <a:defRPr sz="4050" b="1">
                <a:solidFill>
                  <a:srgbClr val="102A5E"/>
                </a:solidFill>
              </a:defRPr>
            </a:pPr>
            <a:r>
              <a:rPr sz="4050" b="1">
                <a:solidFill>
                  <a:srgbClr val="102A5E"/>
                </a:solidFill>
              </a:rPr>
              <a:t>Từ gợi ý đến lịch xem nhà.</a:t>
            </a:r>
          </a:p>
        </p:txBody>
      </p:sp>
      <p:sp>
        <p:nvSpPr>
          <p:cNvPr id="4" name="Rectangle 3">
            <a:extLst>
              <a:ext uri="{FF2B5EF4-FFF2-40B4-BE49-F238E27FC236}">
                <a16:creationId xmlns:a16="http://schemas.microsoft.com/office/drawing/2014/main" id="{2C08E869-9A5A-4E68-8AC9-FCD78FCA75F5}"/>
              </a:ext>
            </a:extLst>
          </p:cNvPr>
          <p:cNvSpPr>
            <a:spLocks noGrp="1"/>
          </p:cNvSpPr>
          <p:nvPr/>
        </p:nvSpPr>
        <p:spPr>
          <a:xfrm>
            <a:off x="685800" y="2781300"/>
            <a:ext cx="6191250" cy="685800"/>
          </a:xfrm>
          <a:prstGeom prst="rect">
            <a:avLst/>
          </a:prstGeom>
          <a:noFill/>
          <a:ln w="0">
            <a:noFill/>
            <a:prstDash val="solid"/>
          </a:ln>
        </p:spPr>
        <p:txBody>
          <a:bodyPr anchor="ctr"/>
          <a:lstStyle/>
          <a:p>
            <a:pPr algn="l">
              <a:defRPr sz="1725" b="0">
                <a:solidFill>
                  <a:srgbClr val="64748B"/>
                </a:solidFill>
              </a:defRPr>
            </a:pPr>
            <a:r>
              <a:rPr sz="1725" b="0">
                <a:solidFill>
                  <a:srgbClr val="64748B"/>
                </a:solidFill>
              </a:rPr>
              <a:t>AI giúp người mua/thuê tìm phương án phù hợp, rồi chuyển hồ sơ rõ ràng cho sale xử lý tiếp.</a:t>
            </a:r>
          </a:p>
        </p:txBody>
      </p:sp>
      <p:sp>
        <p:nvSpPr>
          <p:cNvPr id="5" name="Rectangle 4">
            <a:extLst>
              <a:ext uri="{FF2B5EF4-FFF2-40B4-BE49-F238E27FC236}">
                <a16:creationId xmlns:a16="http://schemas.microsoft.com/office/drawing/2014/main" id="{FF26876C-D551-4549-BAA2-B6A584CC624A}"/>
              </a:ext>
            </a:extLst>
          </p:cNvPr>
          <p:cNvSpPr>
            <a:spLocks noGrp="1"/>
          </p:cNvSpPr>
          <p:nvPr/>
        </p:nvSpPr>
        <p:spPr>
          <a:xfrm>
            <a:off x="781050" y="4238625"/>
            <a:ext cx="2381250" cy="304800"/>
          </a:xfrm>
          <a:prstGeom prst="rect">
            <a:avLst/>
          </a:prstGeom>
          <a:noFill/>
          <a:ln w="0">
            <a:noFill/>
            <a:prstDash val="solid"/>
          </a:ln>
        </p:spPr>
        <p:txBody>
          <a:bodyPr anchor="ctr"/>
          <a:lstStyle/>
          <a:p>
            <a:pPr algn="ctr">
              <a:defRPr sz="1350" b="1">
                <a:solidFill>
                  <a:srgbClr val="2878D0"/>
                </a:solidFill>
              </a:defRPr>
            </a:pPr>
            <a:r>
              <a:rPr sz="1350" b="1">
                <a:solidFill>
                  <a:srgbClr val="2878D0"/>
                </a:solidFill>
              </a:rPr>
              <a:t>NGƯỜI TÌM NHÀ</a:t>
            </a:r>
          </a:p>
        </p:txBody>
      </p:sp>
      <p:sp>
        <p:nvSpPr>
          <p:cNvPr id="6" name="Rectangle 5">
            <a:extLst>
              <a:ext uri="{FF2B5EF4-FFF2-40B4-BE49-F238E27FC236}">
                <a16:creationId xmlns:a16="http://schemas.microsoft.com/office/drawing/2014/main" id="{F455E2FF-D430-4F07-AE41-F35C93331DD4}"/>
              </a:ext>
            </a:extLst>
          </p:cNvPr>
          <p:cNvSpPr>
            <a:spLocks noGrp="1"/>
          </p:cNvSpPr>
          <p:nvPr/>
        </p:nvSpPr>
        <p:spPr>
          <a:xfrm>
            <a:off x="3171825" y="4219575"/>
            <a:ext cx="666750" cy="323850"/>
          </a:xfrm>
          <a:prstGeom prst="rect">
            <a:avLst/>
          </a:prstGeom>
          <a:noFill/>
          <a:ln w="0">
            <a:noFill/>
            <a:prstDash val="solid"/>
          </a:ln>
        </p:spPr>
        <p:txBody>
          <a:bodyPr anchor="ctr"/>
          <a:lstStyle/>
          <a:p>
            <a:pPr algn="ctr">
              <a:defRPr sz="2400" b="1">
                <a:solidFill>
                  <a:srgbClr val="64748B"/>
                </a:solidFill>
              </a:defRPr>
            </a:pPr>
            <a:r>
              <a:rPr sz="2400" b="1">
                <a:solidFill>
                  <a:srgbClr val="64748B"/>
                </a:solidFill>
              </a:rPr>
              <a:t>→</a:t>
            </a:r>
          </a:p>
        </p:txBody>
      </p:sp>
      <p:sp>
        <p:nvSpPr>
          <p:cNvPr id="7" name="Rectangle 6">
            <a:extLst>
              <a:ext uri="{FF2B5EF4-FFF2-40B4-BE49-F238E27FC236}">
                <a16:creationId xmlns:a16="http://schemas.microsoft.com/office/drawing/2014/main" id="{B8AC9E00-77FC-4BCE-9AB0-6B395BDA7F97}"/>
              </a:ext>
            </a:extLst>
          </p:cNvPr>
          <p:cNvSpPr>
            <a:spLocks noGrp="1"/>
          </p:cNvSpPr>
          <p:nvPr/>
        </p:nvSpPr>
        <p:spPr>
          <a:xfrm>
            <a:off x="3857625" y="4238625"/>
            <a:ext cx="2857500" cy="304800"/>
          </a:xfrm>
          <a:prstGeom prst="rect">
            <a:avLst/>
          </a:prstGeom>
          <a:noFill/>
          <a:ln w="0">
            <a:noFill/>
            <a:prstDash val="solid"/>
          </a:ln>
        </p:spPr>
        <p:txBody>
          <a:bodyPr anchor="ctr"/>
          <a:lstStyle/>
          <a:p>
            <a:pPr algn="ctr">
              <a:defRPr sz="1350" b="1">
                <a:solidFill>
                  <a:srgbClr val="7952B3"/>
                </a:solidFill>
              </a:defRPr>
            </a:pPr>
            <a:r>
              <a:rPr sz="1350" b="1">
                <a:solidFill>
                  <a:srgbClr val="7952B3"/>
                </a:solidFill>
              </a:rPr>
              <a:t>AI LÀM RÕ NHU CẦU</a:t>
            </a:r>
          </a:p>
        </p:txBody>
      </p:sp>
      <p:sp>
        <p:nvSpPr>
          <p:cNvPr id="8" name="Rectangle 7">
            <a:extLst>
              <a:ext uri="{FF2B5EF4-FFF2-40B4-BE49-F238E27FC236}">
                <a16:creationId xmlns:a16="http://schemas.microsoft.com/office/drawing/2014/main" id="{AB7AB8B9-1B89-48FE-9BC3-9B18518F2F89}"/>
              </a:ext>
            </a:extLst>
          </p:cNvPr>
          <p:cNvSpPr>
            <a:spLocks noGrp="1"/>
          </p:cNvSpPr>
          <p:nvPr/>
        </p:nvSpPr>
        <p:spPr>
          <a:xfrm>
            <a:off x="6724650" y="4219575"/>
            <a:ext cx="666750" cy="323850"/>
          </a:xfrm>
          <a:prstGeom prst="rect">
            <a:avLst/>
          </a:prstGeom>
          <a:noFill/>
          <a:ln w="0">
            <a:noFill/>
            <a:prstDash val="solid"/>
          </a:ln>
        </p:spPr>
        <p:txBody>
          <a:bodyPr anchor="ctr"/>
          <a:lstStyle/>
          <a:p>
            <a:pPr algn="ctr">
              <a:defRPr sz="2400" b="1">
                <a:solidFill>
                  <a:srgbClr val="64748B"/>
                </a:solidFill>
              </a:defRPr>
            </a:pPr>
            <a:r>
              <a:rPr sz="2400" b="1">
                <a:solidFill>
                  <a:srgbClr val="64748B"/>
                </a:solidFill>
              </a:rPr>
              <a:t>→</a:t>
            </a:r>
          </a:p>
        </p:txBody>
      </p:sp>
      <p:sp>
        <p:nvSpPr>
          <p:cNvPr id="9" name="Rectangle 8">
            <a:extLst>
              <a:ext uri="{FF2B5EF4-FFF2-40B4-BE49-F238E27FC236}">
                <a16:creationId xmlns:a16="http://schemas.microsoft.com/office/drawing/2014/main" id="{8F4F751D-BE25-46EE-82BF-2F75AA82A99A}"/>
              </a:ext>
            </a:extLst>
          </p:cNvPr>
          <p:cNvSpPr>
            <a:spLocks noGrp="1"/>
          </p:cNvSpPr>
          <p:nvPr/>
        </p:nvSpPr>
        <p:spPr>
          <a:xfrm>
            <a:off x="7410450" y="4238625"/>
            <a:ext cx="2381250" cy="304800"/>
          </a:xfrm>
          <a:prstGeom prst="rect">
            <a:avLst/>
          </a:prstGeom>
          <a:noFill/>
          <a:ln w="0">
            <a:noFill/>
            <a:prstDash val="solid"/>
          </a:ln>
        </p:spPr>
        <p:txBody>
          <a:bodyPr anchor="ctr"/>
          <a:lstStyle/>
          <a:p>
            <a:pPr algn="ctr">
              <a:defRPr sz="1350" b="1">
                <a:solidFill>
                  <a:srgbClr val="309451"/>
                </a:solidFill>
              </a:defRPr>
            </a:pPr>
            <a:r>
              <a:rPr sz="1350" b="1">
                <a:solidFill>
                  <a:srgbClr val="309451"/>
                </a:solidFill>
              </a:rPr>
              <a:t>SALE CHỐT LỊCH</a:t>
            </a:r>
          </a:p>
        </p:txBody>
      </p:sp>
      <p:sp>
        <p:nvSpPr>
          <p:cNvPr id="10" name="Rectangle 9">
            <a:extLst>
              <a:ext uri="{FF2B5EF4-FFF2-40B4-BE49-F238E27FC236}">
                <a16:creationId xmlns:a16="http://schemas.microsoft.com/office/drawing/2014/main" id="{93AB1065-03DA-424B-B52B-1856E37B83E8}"/>
              </a:ext>
            </a:extLst>
          </p:cNvPr>
          <p:cNvSpPr>
            <a:spLocks noGrp="1"/>
          </p:cNvSpPr>
          <p:nvPr/>
        </p:nvSpPr>
        <p:spPr>
          <a:xfrm>
            <a:off x="781050" y="4667250"/>
            <a:ext cx="9010650" cy="47625"/>
          </a:xfrm>
          <a:prstGeom prst="rect">
            <a:avLst/>
          </a:prstGeom>
          <a:solidFill>
            <a:srgbClr val="D9E2F0"/>
          </a:solidFill>
          <a:ln w="0">
            <a:solidFill>
              <a:srgbClr val="D9E2F0"/>
            </a:solidFill>
            <a:prstDash val="solid"/>
          </a:ln>
        </p:spPr>
        <p:txBody>
          <a:bodyPr/>
          <a:lstStyle/>
          <a:p>
            <a:endParaRPr lang="en-US"/>
          </a:p>
        </p:txBody>
      </p:sp>
      <p:sp>
        <p:nvSpPr>
          <p:cNvPr id="11" name="Rectangle 10">
            <a:extLst>
              <a:ext uri="{FF2B5EF4-FFF2-40B4-BE49-F238E27FC236}">
                <a16:creationId xmlns:a16="http://schemas.microsoft.com/office/drawing/2014/main" id="{AE245917-9BE2-4E0E-AB60-238CC323C17B}"/>
              </a:ext>
            </a:extLst>
          </p:cNvPr>
          <p:cNvSpPr>
            <a:spLocks noGrp="1"/>
          </p:cNvSpPr>
          <p:nvPr/>
        </p:nvSpPr>
        <p:spPr>
          <a:xfrm>
            <a:off x="685800" y="5829300"/>
            <a:ext cx="7143750" cy="266700"/>
          </a:xfrm>
          <a:prstGeom prst="rect">
            <a:avLst/>
          </a:prstGeom>
          <a:noFill/>
          <a:ln w="0">
            <a:noFill/>
            <a:prstDash val="solid"/>
          </a:ln>
        </p:spPr>
        <p:txBody>
          <a:bodyPr anchor="ctr"/>
          <a:lstStyle/>
          <a:p>
            <a:pPr algn="l">
              <a:defRPr sz="1125" b="1">
                <a:solidFill>
                  <a:srgbClr val="64748B"/>
                </a:solidFill>
              </a:defRPr>
            </a:pPr>
            <a:r>
              <a:rPr sz="1125" b="1">
                <a:solidFill>
                  <a:srgbClr val="64748B"/>
                </a:solidFill>
              </a:rPr>
              <a:t>BÁO CÁO TIẾN ĐỘ NGẮN  •  MVP ĐANG HOÀN THIỆN DATASET</a:t>
            </a:r>
          </a:p>
        </p:txBody>
      </p:sp>
      <p:sp>
        <p:nvSpPr>
          <p:cNvPr id="12" name="Rectangle 11">
            <a:extLst>
              <a:ext uri="{FF2B5EF4-FFF2-40B4-BE49-F238E27FC236}">
                <a16:creationId xmlns:a16="http://schemas.microsoft.com/office/drawing/2014/main" id="{2FDFB63E-F1FB-40EF-9B6F-F2BF53B2B530}"/>
              </a:ext>
            </a:extLst>
          </p:cNvPr>
          <p:cNvSpPr>
            <a:spLocks noGrp="1"/>
          </p:cNvSpPr>
          <p:nvPr/>
        </p:nvSpPr>
        <p:spPr>
          <a:xfrm>
            <a:off x="609600" y="6486525"/>
            <a:ext cx="3143250" cy="190500"/>
          </a:xfrm>
          <a:prstGeom prst="rect">
            <a:avLst/>
          </a:prstGeom>
          <a:noFill/>
          <a:ln w="0">
            <a:noFill/>
            <a:prstDash val="solid"/>
          </a:ln>
        </p:spPr>
        <p:txBody>
          <a:bodyPr anchor="ctr"/>
          <a:lstStyle/>
          <a:p>
            <a:pPr algn="l">
              <a:defRPr sz="900" b="1">
                <a:solidFill>
                  <a:srgbClr val="64748B"/>
                </a:solidFill>
              </a:defRPr>
            </a:pPr>
            <a:r>
              <a:rPr sz="900" b="1">
                <a:solidFill>
                  <a:srgbClr val="64748B"/>
                </a:solidFill>
              </a:rPr>
              <a:t>XHOME  •  MENTOR DUTY #2</a:t>
            </a:r>
          </a:p>
        </p:txBody>
      </p:sp>
      <p:sp>
        <p:nvSpPr>
          <p:cNvPr id="13" name="Rectangle 12">
            <a:extLst>
              <a:ext uri="{FF2B5EF4-FFF2-40B4-BE49-F238E27FC236}">
                <a16:creationId xmlns:a16="http://schemas.microsoft.com/office/drawing/2014/main" id="{672C9076-E24D-4941-9B17-95FB73AF740C}"/>
              </a:ext>
            </a:extLst>
          </p:cNvPr>
          <p:cNvSpPr>
            <a:spLocks noGrp="1"/>
          </p:cNvSpPr>
          <p:nvPr/>
        </p:nvSpPr>
        <p:spPr>
          <a:xfrm>
            <a:off x="11068050" y="6486525"/>
            <a:ext cx="514350" cy="190500"/>
          </a:xfrm>
          <a:prstGeom prst="rect">
            <a:avLst/>
          </a:prstGeom>
          <a:noFill/>
          <a:ln w="0">
            <a:noFill/>
            <a:prstDash val="solid"/>
          </a:ln>
        </p:spPr>
        <p:txBody>
          <a:bodyPr anchor="ctr"/>
          <a:lstStyle/>
          <a:p>
            <a:pPr algn="r">
              <a:defRPr sz="900" b="1">
                <a:solidFill>
                  <a:srgbClr val="64748B"/>
                </a:solidFill>
              </a:defRPr>
            </a:pPr>
            <a:r>
              <a:rPr sz="900" b="1">
                <a:solidFill>
                  <a:srgbClr val="64748B"/>
                </a:solidFill>
              </a:rPr>
              <a:t>01</a:t>
            </a:r>
          </a:p>
        </p:txBody>
      </p:sp>
    </p:spTree>
    <p:extLst>
      <p:ext uri="{BB962C8B-B14F-4D97-AF65-F5344CB8AC3E}">
        <p14:creationId xmlns:p14="http://schemas.microsoft.com/office/powerpoint/2010/main" val="6268512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3B897A7B-3201-4833-9008-C6A9A9D0F38E}"/>
              </a:ext>
            </a:extLst>
          </p:cNvPr>
          <p:cNvSpPr>
            <a:spLocks noGrp="1"/>
          </p:cNvSpPr>
          <p:nvPr/>
        </p:nvSpPr>
        <p:spPr>
          <a:xfrm>
            <a:off x="609600" y="295275"/>
            <a:ext cx="3238500" cy="228600"/>
          </a:xfrm>
          <a:prstGeom prst="rect">
            <a:avLst/>
          </a:prstGeom>
          <a:noFill/>
          <a:ln w="0">
            <a:noFill/>
            <a:prstDash val="solid"/>
          </a:ln>
        </p:spPr>
        <p:txBody>
          <a:bodyPr anchor="ctr"/>
          <a:lstStyle/>
          <a:p>
            <a:pPr algn="l">
              <a:defRPr sz="1050" b="1">
                <a:solidFill>
                  <a:srgbClr val="2878D0"/>
                </a:solidFill>
              </a:defRPr>
            </a:pPr>
            <a:r>
              <a:rPr sz="1050" b="1">
                <a:solidFill>
                  <a:srgbClr val="2878D0"/>
                </a:solidFill>
              </a:rPr>
              <a:t>GIÁ TRỊ CHÍNH</a:t>
            </a:r>
          </a:p>
        </p:txBody>
      </p:sp>
      <p:sp>
        <p:nvSpPr>
          <p:cNvPr id="2" name="Rectangle 1">
            <a:extLst>
              <a:ext uri="{FF2B5EF4-FFF2-40B4-BE49-F238E27FC236}">
                <a16:creationId xmlns:a16="http://schemas.microsoft.com/office/drawing/2014/main" id="{FBDE867C-599B-46AD-AD7D-98FE652C5BF6}"/>
              </a:ext>
            </a:extLst>
          </p:cNvPr>
          <p:cNvSpPr>
            <a:spLocks noGrp="1"/>
          </p:cNvSpPr>
          <p:nvPr/>
        </p:nvSpPr>
        <p:spPr>
          <a:xfrm>
            <a:off x="609600" y="514350"/>
            <a:ext cx="10972800" cy="523875"/>
          </a:xfrm>
          <a:prstGeom prst="rect">
            <a:avLst/>
          </a:prstGeom>
          <a:noFill/>
          <a:ln w="0">
            <a:noFill/>
            <a:prstDash val="solid"/>
          </a:ln>
        </p:spPr>
        <p:txBody>
          <a:bodyPr anchor="ctr"/>
          <a:lstStyle/>
          <a:p>
            <a:pPr algn="l">
              <a:defRPr sz="2850" b="1">
                <a:solidFill>
                  <a:srgbClr val="102A5E"/>
                </a:solidFill>
              </a:defRPr>
            </a:pPr>
            <a:r>
              <a:rPr sz="2850" b="1">
                <a:solidFill>
                  <a:srgbClr val="102A5E"/>
                </a:solidFill>
              </a:rPr>
              <a:t>AI đứng giữa người tìm nhà và sale</a:t>
            </a:r>
          </a:p>
        </p:txBody>
      </p:sp>
      <p:sp>
        <p:nvSpPr>
          <p:cNvPr id="3" name="Rectangle 2">
            <a:extLst>
              <a:ext uri="{FF2B5EF4-FFF2-40B4-BE49-F238E27FC236}">
                <a16:creationId xmlns:a16="http://schemas.microsoft.com/office/drawing/2014/main" id="{0A8A6D65-471A-49FE-B4B8-074D4E955ECC}"/>
              </a:ext>
            </a:extLst>
          </p:cNvPr>
          <p:cNvSpPr>
            <a:spLocks noGrp="1"/>
          </p:cNvSpPr>
          <p:nvPr/>
        </p:nvSpPr>
        <p:spPr>
          <a:xfrm>
            <a:off x="609600" y="1104900"/>
            <a:ext cx="10972800" cy="28575"/>
          </a:xfrm>
          <a:prstGeom prst="rect">
            <a:avLst/>
          </a:prstGeom>
          <a:solidFill>
            <a:srgbClr val="D9E2F0"/>
          </a:solidFill>
          <a:ln w="0">
            <a:solidFill>
              <a:srgbClr val="D9E2F0"/>
            </a:solidFill>
            <a:prstDash val="solid"/>
          </a:ln>
        </p:spPr>
        <p:txBody>
          <a:bodyPr/>
          <a:lstStyle/>
          <a:p>
            <a:endParaRPr lang="en-US"/>
          </a:p>
        </p:txBody>
      </p:sp>
      <p:sp>
        <p:nvSpPr>
          <p:cNvPr id="4" name="Rectangle 3">
            <a:extLst>
              <a:ext uri="{FF2B5EF4-FFF2-40B4-BE49-F238E27FC236}">
                <a16:creationId xmlns:a16="http://schemas.microsoft.com/office/drawing/2014/main" id="{27895EB2-BF1F-43D6-9A5A-17960238535F}"/>
              </a:ext>
            </a:extLst>
          </p:cNvPr>
          <p:cNvSpPr>
            <a:spLocks noGrp="1"/>
          </p:cNvSpPr>
          <p:nvPr/>
        </p:nvSpPr>
        <p:spPr>
          <a:xfrm>
            <a:off x="609600" y="1323975"/>
            <a:ext cx="9048750" cy="361950"/>
          </a:xfrm>
          <a:prstGeom prst="rect">
            <a:avLst/>
          </a:prstGeom>
          <a:noFill/>
          <a:ln w="0">
            <a:noFill/>
            <a:prstDash val="solid"/>
          </a:ln>
        </p:spPr>
        <p:txBody>
          <a:bodyPr anchor="ctr"/>
          <a:lstStyle/>
          <a:p>
            <a:pPr algn="l">
              <a:defRPr sz="1650" b="0">
                <a:solidFill>
                  <a:srgbClr val="64748B"/>
                </a:solidFill>
              </a:defRPr>
            </a:pPr>
            <a:r>
              <a:rPr sz="1650" b="0">
                <a:solidFill>
                  <a:srgbClr val="64748B"/>
                </a:solidFill>
              </a:rPr>
              <a:t>AI không thay sale; AI giảm việc lọc tin và hỏi lại từ đầu.</a:t>
            </a:r>
          </a:p>
        </p:txBody>
      </p:sp>
      <p:sp>
        <p:nvSpPr>
          <p:cNvPr id="5" name="Rectangle 4">
            <a:extLst>
              <a:ext uri="{FF2B5EF4-FFF2-40B4-BE49-F238E27FC236}">
                <a16:creationId xmlns:a16="http://schemas.microsoft.com/office/drawing/2014/main" id="{1DF6C05B-192D-48C6-846D-3801539511D3}"/>
              </a:ext>
            </a:extLst>
          </p:cNvPr>
          <p:cNvSpPr>
            <a:spLocks noGrp="1"/>
          </p:cNvSpPr>
          <p:nvPr/>
        </p:nvSpPr>
        <p:spPr>
          <a:xfrm>
            <a:off x="6086475" y="1924050"/>
            <a:ext cx="19050" cy="3457575"/>
          </a:xfrm>
          <a:prstGeom prst="rect">
            <a:avLst/>
          </a:prstGeom>
          <a:solidFill>
            <a:srgbClr val="D9E2F0"/>
          </a:solidFill>
          <a:ln w="0">
            <a:solidFill>
              <a:srgbClr val="D9E2F0"/>
            </a:solidFill>
            <a:prstDash val="solid"/>
          </a:ln>
        </p:spPr>
        <p:txBody>
          <a:bodyPr/>
          <a:lstStyle/>
          <a:p>
            <a:endParaRPr lang="en-US"/>
          </a:p>
        </p:txBody>
      </p:sp>
      <p:sp>
        <p:nvSpPr>
          <p:cNvPr id="6" name="Rectangle 5">
            <a:extLst>
              <a:ext uri="{FF2B5EF4-FFF2-40B4-BE49-F238E27FC236}">
                <a16:creationId xmlns:a16="http://schemas.microsoft.com/office/drawing/2014/main" id="{B98F7879-160A-48E7-9B0C-E80B8D228E15}"/>
              </a:ext>
            </a:extLst>
          </p:cNvPr>
          <p:cNvSpPr>
            <a:spLocks noGrp="1"/>
          </p:cNvSpPr>
          <p:nvPr/>
        </p:nvSpPr>
        <p:spPr>
          <a:xfrm>
            <a:off x="742950" y="1952625"/>
            <a:ext cx="4762500" cy="323850"/>
          </a:xfrm>
          <a:prstGeom prst="rect">
            <a:avLst/>
          </a:prstGeom>
          <a:noFill/>
          <a:ln w="0">
            <a:noFill/>
            <a:prstDash val="solid"/>
          </a:ln>
        </p:spPr>
        <p:txBody>
          <a:bodyPr anchor="ctr"/>
          <a:lstStyle/>
          <a:p>
            <a:pPr algn="l">
              <a:defRPr sz="1800" b="1">
                <a:solidFill>
                  <a:srgbClr val="2878D0"/>
                </a:solidFill>
              </a:defRPr>
            </a:pPr>
            <a:r>
              <a:rPr sz="1800" b="1">
                <a:solidFill>
                  <a:srgbClr val="2878D0"/>
                </a:solidFill>
              </a:rPr>
              <a:t>CHO NGƯỜI MUA / THUÊ</a:t>
            </a:r>
          </a:p>
        </p:txBody>
      </p:sp>
      <p:sp>
        <p:nvSpPr>
          <p:cNvPr id="7" name="Rectangle 6">
            <a:extLst>
              <a:ext uri="{FF2B5EF4-FFF2-40B4-BE49-F238E27FC236}">
                <a16:creationId xmlns:a16="http://schemas.microsoft.com/office/drawing/2014/main" id="{C8DAA289-E0DD-4399-A2E2-F089DFC4C6B0}"/>
              </a:ext>
            </a:extLst>
          </p:cNvPr>
          <p:cNvSpPr>
            <a:spLocks noGrp="1"/>
          </p:cNvSpPr>
          <p:nvPr/>
        </p:nvSpPr>
        <p:spPr>
          <a:xfrm>
            <a:off x="742950" y="2533650"/>
            <a:ext cx="4762500" cy="304800"/>
          </a:xfrm>
          <a:prstGeom prst="rect">
            <a:avLst/>
          </a:prstGeom>
          <a:noFill/>
          <a:ln w="0">
            <a:noFill/>
            <a:prstDash val="solid"/>
          </a:ln>
        </p:spPr>
        <p:txBody>
          <a:bodyPr anchor="ctr"/>
          <a:lstStyle/>
          <a:p>
            <a:pPr algn="l">
              <a:defRPr sz="2025" b="1">
                <a:solidFill>
                  <a:srgbClr val="17233B"/>
                </a:solidFill>
              </a:defRPr>
            </a:pPr>
            <a:r>
              <a:rPr sz="2025" b="1">
                <a:solidFill>
                  <a:srgbClr val="17233B"/>
                </a:solidFill>
              </a:rPr>
              <a:t>Nói nhu cầu như đang nhắn tin</a:t>
            </a:r>
          </a:p>
        </p:txBody>
      </p:sp>
      <p:sp>
        <p:nvSpPr>
          <p:cNvPr id="8" name="Rectangle 7">
            <a:extLst>
              <a:ext uri="{FF2B5EF4-FFF2-40B4-BE49-F238E27FC236}">
                <a16:creationId xmlns:a16="http://schemas.microsoft.com/office/drawing/2014/main" id="{4B32D300-C141-4A9F-A9EE-06972AA47144}"/>
              </a:ext>
            </a:extLst>
          </p:cNvPr>
          <p:cNvSpPr>
            <a:spLocks noGrp="1"/>
          </p:cNvSpPr>
          <p:nvPr/>
        </p:nvSpPr>
        <p:spPr>
          <a:xfrm>
            <a:off x="742950" y="2943225"/>
            <a:ext cx="4524375" cy="666750"/>
          </a:xfrm>
          <a:prstGeom prst="rect">
            <a:avLst/>
          </a:prstGeom>
          <a:noFill/>
          <a:ln w="0">
            <a:noFill/>
            <a:prstDash val="solid"/>
          </a:ln>
        </p:spPr>
        <p:txBody>
          <a:bodyPr anchor="ctr"/>
          <a:lstStyle/>
          <a:p>
            <a:pPr algn="l">
              <a:defRPr sz="1650" b="0">
                <a:solidFill>
                  <a:srgbClr val="64748B"/>
                </a:solidFill>
              </a:defRPr>
            </a:pPr>
            <a:r>
              <a:rPr sz="1650" b="0">
                <a:solidFill>
                  <a:srgbClr val="64748B"/>
                </a:solidFill>
              </a:rPr>
              <a:t>“Em cần căn 2 phòng ngủ, gần trường,</a:t>
            </a:r>
          </a:p>
          <a:p>
            <a:pPr algn="l">
              <a:defRPr sz="1650" b="0">
                <a:solidFill>
                  <a:srgbClr val="64748B"/>
                </a:solidFill>
              </a:defRPr>
            </a:pPr>
            <a:r>
              <a:rPr sz="1650" b="0">
                <a:solidFill>
                  <a:srgbClr val="64748B"/>
                </a:solidFill>
              </a:rPr>
              <a:t>ngân sách khoảng 3 tỷ.”</a:t>
            </a:r>
          </a:p>
        </p:txBody>
      </p:sp>
      <p:sp>
        <p:nvSpPr>
          <p:cNvPr id="9" name="Rectangle 8">
            <a:extLst>
              <a:ext uri="{FF2B5EF4-FFF2-40B4-BE49-F238E27FC236}">
                <a16:creationId xmlns:a16="http://schemas.microsoft.com/office/drawing/2014/main" id="{2579C220-B478-4F03-BA77-4B87AA50E5C8}"/>
              </a:ext>
            </a:extLst>
          </p:cNvPr>
          <p:cNvSpPr>
            <a:spLocks noGrp="1"/>
          </p:cNvSpPr>
          <p:nvPr/>
        </p:nvSpPr>
        <p:spPr>
          <a:xfrm>
            <a:off x="742950" y="3905250"/>
            <a:ext cx="4572000" cy="1200150"/>
          </a:xfrm>
          <a:prstGeom prst="rect">
            <a:avLst/>
          </a:prstGeom>
          <a:noFill/>
          <a:ln w="0">
            <a:noFill/>
            <a:prstDash val="solid"/>
          </a:ln>
        </p:spPr>
        <p:txBody>
          <a:bodyPr anchor="ctr"/>
          <a:lstStyle/>
          <a:p>
            <a:pPr algn="l">
              <a:defRPr sz="1500" b="0">
                <a:solidFill>
                  <a:srgbClr val="17233B"/>
                </a:solidFill>
              </a:defRPr>
            </a:pPr>
            <a:r>
              <a:rPr sz="1500" b="0">
                <a:solidFill>
                  <a:srgbClr val="17233B"/>
                </a:solidFill>
              </a:rPr>
              <a:t>✓ AI hỏi thêm phần còn thiếu</a:t>
            </a:r>
          </a:p>
          <a:p>
            <a:pPr algn="l">
              <a:defRPr sz="1500" b="0">
                <a:solidFill>
                  <a:srgbClr val="17233B"/>
                </a:solidFill>
              </a:defRPr>
            </a:pPr>
            <a:r>
              <a:rPr sz="1500" b="0">
                <a:solidFill>
                  <a:srgbClr val="17233B"/>
                </a:solidFill>
              </a:rPr>
              <a:t>✓ Lọc và so sánh vài lựa chọn phù hợp</a:t>
            </a:r>
          </a:p>
          <a:p>
            <a:pPr algn="l">
              <a:defRPr sz="1500" b="0">
                <a:solidFill>
                  <a:srgbClr val="17233B"/>
                </a:solidFill>
              </a:defRPr>
            </a:pPr>
            <a:r>
              <a:rPr sz="1500" b="0">
                <a:solidFill>
                  <a:srgbClr val="17233B"/>
                </a:solidFill>
              </a:rPr>
              <a:t>✓ Đặt lịch xem nhà ngay trên web</a:t>
            </a:r>
          </a:p>
        </p:txBody>
      </p:sp>
      <p:sp>
        <p:nvSpPr>
          <p:cNvPr id="10" name="Rectangle 9">
            <a:extLst>
              <a:ext uri="{FF2B5EF4-FFF2-40B4-BE49-F238E27FC236}">
                <a16:creationId xmlns:a16="http://schemas.microsoft.com/office/drawing/2014/main" id="{F64E57BC-4B65-42ED-A309-114F9CFC4E14}"/>
              </a:ext>
            </a:extLst>
          </p:cNvPr>
          <p:cNvSpPr>
            <a:spLocks noGrp="1"/>
          </p:cNvSpPr>
          <p:nvPr/>
        </p:nvSpPr>
        <p:spPr>
          <a:xfrm>
            <a:off x="6534150" y="1952625"/>
            <a:ext cx="4762500" cy="323850"/>
          </a:xfrm>
          <a:prstGeom prst="rect">
            <a:avLst/>
          </a:prstGeom>
          <a:noFill/>
          <a:ln w="0">
            <a:noFill/>
            <a:prstDash val="solid"/>
          </a:ln>
        </p:spPr>
        <p:txBody>
          <a:bodyPr anchor="ctr"/>
          <a:lstStyle/>
          <a:p>
            <a:pPr algn="l">
              <a:defRPr sz="1800" b="1">
                <a:solidFill>
                  <a:srgbClr val="309451"/>
                </a:solidFill>
              </a:defRPr>
            </a:pPr>
            <a:r>
              <a:rPr sz="1800" b="1">
                <a:solidFill>
                  <a:srgbClr val="309451"/>
                </a:solidFill>
              </a:rPr>
              <a:t>CHO SALE / ĐIỀU PHỐI</a:t>
            </a:r>
          </a:p>
        </p:txBody>
      </p:sp>
      <p:sp>
        <p:nvSpPr>
          <p:cNvPr id="11" name="Rectangle 10">
            <a:extLst>
              <a:ext uri="{FF2B5EF4-FFF2-40B4-BE49-F238E27FC236}">
                <a16:creationId xmlns:a16="http://schemas.microsoft.com/office/drawing/2014/main" id="{0458CD43-84EE-4201-8ACF-8C5931D21B4B}"/>
              </a:ext>
            </a:extLst>
          </p:cNvPr>
          <p:cNvSpPr>
            <a:spLocks noGrp="1"/>
          </p:cNvSpPr>
          <p:nvPr/>
        </p:nvSpPr>
        <p:spPr>
          <a:xfrm>
            <a:off x="6534150" y="2533650"/>
            <a:ext cx="4762500" cy="304800"/>
          </a:xfrm>
          <a:prstGeom prst="rect">
            <a:avLst/>
          </a:prstGeom>
          <a:noFill/>
          <a:ln w="0">
            <a:noFill/>
            <a:prstDash val="solid"/>
          </a:ln>
        </p:spPr>
        <p:txBody>
          <a:bodyPr anchor="ctr"/>
          <a:lstStyle/>
          <a:p>
            <a:pPr algn="l">
              <a:defRPr sz="2025" b="1">
                <a:solidFill>
                  <a:srgbClr val="17233B"/>
                </a:solidFill>
              </a:defRPr>
            </a:pPr>
            <a:r>
              <a:rPr sz="2025" b="1">
                <a:solidFill>
                  <a:srgbClr val="17233B"/>
                </a:solidFill>
              </a:rPr>
              <a:t>Nhận một lead đã rõ nhu cầu</a:t>
            </a:r>
          </a:p>
        </p:txBody>
      </p:sp>
      <p:sp>
        <p:nvSpPr>
          <p:cNvPr id="12" name="Rectangle 11">
            <a:extLst>
              <a:ext uri="{FF2B5EF4-FFF2-40B4-BE49-F238E27FC236}">
                <a16:creationId xmlns:a16="http://schemas.microsoft.com/office/drawing/2014/main" id="{77500FC4-8A11-43CF-B6A4-AFD165A6133E}"/>
              </a:ext>
            </a:extLst>
          </p:cNvPr>
          <p:cNvSpPr>
            <a:spLocks noGrp="1"/>
          </p:cNvSpPr>
          <p:nvPr/>
        </p:nvSpPr>
        <p:spPr>
          <a:xfrm>
            <a:off x="6534150" y="2943225"/>
            <a:ext cx="4572000" cy="666750"/>
          </a:xfrm>
          <a:prstGeom prst="rect">
            <a:avLst/>
          </a:prstGeom>
          <a:noFill/>
          <a:ln w="0">
            <a:noFill/>
            <a:prstDash val="solid"/>
          </a:ln>
        </p:spPr>
        <p:txBody>
          <a:bodyPr anchor="ctr"/>
          <a:lstStyle/>
          <a:p>
            <a:pPr algn="l">
              <a:defRPr sz="1650" b="0">
                <a:solidFill>
                  <a:srgbClr val="64748B"/>
                </a:solidFill>
              </a:defRPr>
            </a:pPr>
            <a:r>
              <a:rPr sz="1650" b="0">
                <a:solidFill>
                  <a:srgbClr val="64748B"/>
                </a:solidFill>
              </a:rPr>
              <a:t>Ngân sách • tiêu chí bắt buộc • ưu tiên</a:t>
            </a:r>
          </a:p>
          <a:p>
            <a:pPr algn="l">
              <a:defRPr sz="1650" b="0">
                <a:solidFill>
                  <a:srgbClr val="64748B"/>
                </a:solidFill>
              </a:defRPr>
            </a:pPr>
            <a:r>
              <a:rPr sz="1650" b="0">
                <a:solidFill>
                  <a:srgbClr val="64748B"/>
                </a:solidFill>
              </a:rPr>
              <a:t>• căn quan tâm • giờ muốn liên hệ</a:t>
            </a:r>
          </a:p>
        </p:txBody>
      </p:sp>
      <p:sp>
        <p:nvSpPr>
          <p:cNvPr id="13" name="Rectangle 12">
            <a:extLst>
              <a:ext uri="{FF2B5EF4-FFF2-40B4-BE49-F238E27FC236}">
                <a16:creationId xmlns:a16="http://schemas.microsoft.com/office/drawing/2014/main" id="{8ED65976-1BCF-4D1D-B3A7-D192B162BBA0}"/>
              </a:ext>
            </a:extLst>
          </p:cNvPr>
          <p:cNvSpPr>
            <a:spLocks noGrp="1"/>
          </p:cNvSpPr>
          <p:nvPr/>
        </p:nvSpPr>
        <p:spPr>
          <a:xfrm>
            <a:off x="6534150" y="3905250"/>
            <a:ext cx="4572000" cy="1200150"/>
          </a:xfrm>
          <a:prstGeom prst="rect">
            <a:avLst/>
          </a:prstGeom>
          <a:noFill/>
          <a:ln w="0">
            <a:noFill/>
            <a:prstDash val="solid"/>
          </a:ln>
        </p:spPr>
        <p:txBody>
          <a:bodyPr anchor="ctr"/>
          <a:lstStyle/>
          <a:p>
            <a:pPr algn="l">
              <a:defRPr sz="1500" b="0">
                <a:solidFill>
                  <a:srgbClr val="17233B"/>
                </a:solidFill>
              </a:defRPr>
            </a:pPr>
            <a:r>
              <a:rPr sz="1500" b="0">
                <a:solidFill>
                  <a:srgbClr val="17233B"/>
                </a:solidFill>
              </a:rPr>
              <a:t>✓ Đỡ mất thời gian hỏi lại</a:t>
            </a:r>
          </a:p>
          <a:p>
            <a:pPr algn="l">
              <a:defRPr sz="1500" b="0">
                <a:solidFill>
                  <a:srgbClr val="17233B"/>
                </a:solidFill>
              </a:defRPr>
            </a:pPr>
            <a:r>
              <a:rPr sz="1500" b="0">
                <a:solidFill>
                  <a:srgbClr val="17233B"/>
                </a:solidFill>
              </a:rPr>
              <a:t>✓ Kiểm tra lịch và xác nhận trước khi chốt</a:t>
            </a:r>
          </a:p>
          <a:p>
            <a:pPr algn="l">
              <a:defRPr sz="1500" b="0">
                <a:solidFill>
                  <a:srgbClr val="17233B"/>
                </a:solidFill>
              </a:defRPr>
            </a:pPr>
            <a:r>
              <a:rPr sz="1500" b="0">
                <a:solidFill>
                  <a:srgbClr val="17233B"/>
                </a:solidFill>
              </a:rPr>
              <a:t>✓ Theo dõi trạng thái lịch hẹn</a:t>
            </a:r>
          </a:p>
        </p:txBody>
      </p:sp>
      <p:sp>
        <p:nvSpPr>
          <p:cNvPr id="14" name="Rectangle: Rounded Corners 13">
            <a:extLst>
              <a:ext uri="{FF2B5EF4-FFF2-40B4-BE49-F238E27FC236}">
                <a16:creationId xmlns:a16="http://schemas.microsoft.com/office/drawing/2014/main" id="{A2924481-5210-4255-8B1D-3D9655A64F13}"/>
              </a:ext>
            </a:extLst>
          </p:cNvPr>
          <p:cNvSpPr>
            <a:spLocks noGrp="1"/>
          </p:cNvSpPr>
          <p:nvPr/>
        </p:nvSpPr>
        <p:spPr>
          <a:xfrm>
            <a:off x="3429000" y="5572125"/>
            <a:ext cx="5334000" cy="514350"/>
          </a:xfrm>
          <a:prstGeom prst="roundRect">
            <a:avLst>
              <a:gd name="adj" fmla="val 22222"/>
            </a:avLst>
          </a:prstGeom>
          <a:solidFill>
            <a:srgbClr val="EAF3FF"/>
          </a:solidFill>
          <a:ln w="9525">
            <a:solidFill>
              <a:srgbClr val="2878D0"/>
            </a:solidFill>
            <a:prstDash val="solid"/>
          </a:ln>
        </p:spPr>
        <p:txBody>
          <a:bodyPr/>
          <a:lstStyle/>
          <a:p>
            <a:endParaRPr lang="en-US"/>
          </a:p>
        </p:txBody>
      </p:sp>
      <p:sp>
        <p:nvSpPr>
          <p:cNvPr id="15" name="Rectangle 14">
            <a:extLst>
              <a:ext uri="{FF2B5EF4-FFF2-40B4-BE49-F238E27FC236}">
                <a16:creationId xmlns:a16="http://schemas.microsoft.com/office/drawing/2014/main" id="{64F64F9D-A367-4D09-9C77-4554722C2871}"/>
              </a:ext>
            </a:extLst>
          </p:cNvPr>
          <p:cNvSpPr>
            <a:spLocks noGrp="1"/>
          </p:cNvSpPr>
          <p:nvPr/>
        </p:nvSpPr>
        <p:spPr>
          <a:xfrm>
            <a:off x="3600450" y="5648325"/>
            <a:ext cx="4991100" cy="361950"/>
          </a:xfrm>
          <a:prstGeom prst="rect">
            <a:avLst/>
          </a:prstGeom>
          <a:noFill/>
          <a:ln w="0">
            <a:noFill/>
            <a:prstDash val="solid"/>
          </a:ln>
        </p:spPr>
        <p:txBody>
          <a:bodyPr anchor="ctr"/>
          <a:lstStyle/>
          <a:p>
            <a:pPr algn="ctr">
              <a:defRPr sz="1575" b="1">
                <a:solidFill>
                  <a:srgbClr val="102A5E"/>
                </a:solidFill>
              </a:defRPr>
            </a:pPr>
            <a:r>
              <a:rPr sz="1575" b="1">
                <a:solidFill>
                  <a:srgbClr val="102A5E"/>
                </a:solidFill>
              </a:rPr>
              <a:t>Kết quả: khách đỡ rối — sale xử lý nhanh hơn</a:t>
            </a:r>
          </a:p>
        </p:txBody>
      </p:sp>
      <p:sp>
        <p:nvSpPr>
          <p:cNvPr id="16" name="Rectangle 15">
            <a:extLst>
              <a:ext uri="{FF2B5EF4-FFF2-40B4-BE49-F238E27FC236}">
                <a16:creationId xmlns:a16="http://schemas.microsoft.com/office/drawing/2014/main" id="{F5A8C718-3E43-43D6-BD59-E38BAB4170A5}"/>
              </a:ext>
            </a:extLst>
          </p:cNvPr>
          <p:cNvSpPr>
            <a:spLocks noGrp="1"/>
          </p:cNvSpPr>
          <p:nvPr/>
        </p:nvSpPr>
        <p:spPr>
          <a:xfrm>
            <a:off x="609600" y="6486525"/>
            <a:ext cx="3143250" cy="190500"/>
          </a:xfrm>
          <a:prstGeom prst="rect">
            <a:avLst/>
          </a:prstGeom>
          <a:noFill/>
          <a:ln w="0">
            <a:noFill/>
            <a:prstDash val="solid"/>
          </a:ln>
        </p:spPr>
        <p:txBody>
          <a:bodyPr anchor="ctr"/>
          <a:lstStyle/>
          <a:p>
            <a:pPr algn="l">
              <a:defRPr sz="900" b="1">
                <a:solidFill>
                  <a:srgbClr val="64748B"/>
                </a:solidFill>
              </a:defRPr>
            </a:pPr>
            <a:r>
              <a:rPr sz="900" b="1">
                <a:solidFill>
                  <a:srgbClr val="64748B"/>
                </a:solidFill>
              </a:rPr>
              <a:t>XHOME  •  MENTOR DUTY #2</a:t>
            </a:r>
          </a:p>
        </p:txBody>
      </p:sp>
      <p:sp>
        <p:nvSpPr>
          <p:cNvPr id="17" name="Rectangle 16">
            <a:extLst>
              <a:ext uri="{FF2B5EF4-FFF2-40B4-BE49-F238E27FC236}">
                <a16:creationId xmlns:a16="http://schemas.microsoft.com/office/drawing/2014/main" id="{0263FBE3-A20B-474A-8148-3DEA5E996217}"/>
              </a:ext>
            </a:extLst>
          </p:cNvPr>
          <p:cNvSpPr>
            <a:spLocks noGrp="1"/>
          </p:cNvSpPr>
          <p:nvPr/>
        </p:nvSpPr>
        <p:spPr>
          <a:xfrm>
            <a:off x="11068050" y="6486525"/>
            <a:ext cx="514350" cy="190500"/>
          </a:xfrm>
          <a:prstGeom prst="rect">
            <a:avLst/>
          </a:prstGeom>
          <a:noFill/>
          <a:ln w="0">
            <a:noFill/>
            <a:prstDash val="solid"/>
          </a:ln>
        </p:spPr>
        <p:txBody>
          <a:bodyPr anchor="ctr"/>
          <a:lstStyle/>
          <a:p>
            <a:pPr algn="r">
              <a:defRPr sz="900" b="1">
                <a:solidFill>
                  <a:srgbClr val="64748B"/>
                </a:solidFill>
              </a:defRPr>
            </a:pPr>
            <a:r>
              <a:rPr sz="900" b="1">
                <a:solidFill>
                  <a:srgbClr val="64748B"/>
                </a:solidFill>
              </a:rPr>
              <a:t>02</a:t>
            </a:r>
          </a:p>
        </p:txBody>
      </p:sp>
    </p:spTree>
    <p:extLst>
      <p:ext uri="{BB962C8B-B14F-4D97-AF65-F5344CB8AC3E}">
        <p14:creationId xmlns:p14="http://schemas.microsoft.com/office/powerpoint/2010/main" val="14193606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DBF1F0F-364B-4EDD-B735-DCFA0DA48CBB}"/>
              </a:ext>
            </a:extLst>
          </p:cNvPr>
          <p:cNvSpPr>
            <a:spLocks noGrp="1"/>
          </p:cNvSpPr>
          <p:nvPr/>
        </p:nvSpPr>
        <p:spPr>
          <a:xfrm>
            <a:off x="609600" y="295275"/>
            <a:ext cx="3238500" cy="228600"/>
          </a:xfrm>
          <a:prstGeom prst="rect">
            <a:avLst/>
          </a:prstGeom>
          <a:noFill/>
          <a:ln w="0">
            <a:noFill/>
            <a:prstDash val="solid"/>
          </a:ln>
        </p:spPr>
        <p:txBody>
          <a:bodyPr anchor="ctr"/>
          <a:lstStyle/>
          <a:p>
            <a:pPr algn="l">
              <a:defRPr sz="1050" b="1">
                <a:solidFill>
                  <a:srgbClr val="2878D0"/>
                </a:solidFill>
              </a:defRPr>
            </a:pPr>
            <a:r>
              <a:rPr sz="1050" b="1">
                <a:solidFill>
                  <a:srgbClr val="2878D0"/>
                </a:solidFill>
              </a:rPr>
              <a:t>LUỒNG TỔNG THỂ</a:t>
            </a:r>
          </a:p>
        </p:txBody>
      </p:sp>
      <p:sp>
        <p:nvSpPr>
          <p:cNvPr id="2" name="Rectangle 1">
            <a:extLst>
              <a:ext uri="{FF2B5EF4-FFF2-40B4-BE49-F238E27FC236}">
                <a16:creationId xmlns:a16="http://schemas.microsoft.com/office/drawing/2014/main" id="{4C0F37F6-E116-44D8-AEFF-2748BC1254EC}"/>
              </a:ext>
            </a:extLst>
          </p:cNvPr>
          <p:cNvSpPr>
            <a:spLocks noGrp="1"/>
          </p:cNvSpPr>
          <p:nvPr/>
        </p:nvSpPr>
        <p:spPr>
          <a:xfrm>
            <a:off x="609600" y="514350"/>
            <a:ext cx="10972800" cy="523875"/>
          </a:xfrm>
          <a:prstGeom prst="rect">
            <a:avLst/>
          </a:prstGeom>
          <a:noFill/>
          <a:ln w="0">
            <a:noFill/>
            <a:prstDash val="solid"/>
          </a:ln>
        </p:spPr>
        <p:txBody>
          <a:bodyPr anchor="ctr"/>
          <a:lstStyle/>
          <a:p>
            <a:pPr algn="l">
              <a:defRPr sz="2850" b="1">
                <a:solidFill>
                  <a:srgbClr val="102A5E"/>
                </a:solidFill>
              </a:defRPr>
            </a:pPr>
            <a:r>
              <a:rPr sz="2850" b="1">
                <a:solidFill>
                  <a:srgbClr val="102A5E"/>
                </a:solidFill>
              </a:rPr>
              <a:t>Một cuộc trò chuyện đi đến một lịch hẹn</a:t>
            </a:r>
          </a:p>
        </p:txBody>
      </p:sp>
      <p:sp>
        <p:nvSpPr>
          <p:cNvPr id="3" name="Rectangle 2">
            <a:extLst>
              <a:ext uri="{FF2B5EF4-FFF2-40B4-BE49-F238E27FC236}">
                <a16:creationId xmlns:a16="http://schemas.microsoft.com/office/drawing/2014/main" id="{93852346-8357-47E9-A1CD-0566032B29BC}"/>
              </a:ext>
            </a:extLst>
          </p:cNvPr>
          <p:cNvSpPr>
            <a:spLocks noGrp="1"/>
          </p:cNvSpPr>
          <p:nvPr/>
        </p:nvSpPr>
        <p:spPr>
          <a:xfrm>
            <a:off x="609600" y="1104900"/>
            <a:ext cx="10972800" cy="28575"/>
          </a:xfrm>
          <a:prstGeom prst="rect">
            <a:avLst/>
          </a:prstGeom>
          <a:solidFill>
            <a:srgbClr val="D9E2F0"/>
          </a:solidFill>
          <a:ln w="0">
            <a:solidFill>
              <a:srgbClr val="D9E2F0"/>
            </a:solidFill>
            <a:prstDash val="solid"/>
          </a:ln>
        </p:spPr>
        <p:txBody>
          <a:bodyPr/>
          <a:lstStyle/>
          <a:p>
            <a:endParaRPr lang="en-US"/>
          </a:p>
        </p:txBody>
      </p:sp>
      <p:sp>
        <p:nvSpPr>
          <p:cNvPr id="4" name="Rectangle: Rounded Corners 3">
            <a:extLst>
              <a:ext uri="{FF2B5EF4-FFF2-40B4-BE49-F238E27FC236}">
                <a16:creationId xmlns:a16="http://schemas.microsoft.com/office/drawing/2014/main" id="{80163306-B463-4A30-9653-268F21208BD4}"/>
              </a:ext>
            </a:extLst>
          </p:cNvPr>
          <p:cNvSpPr>
            <a:spLocks noGrp="1"/>
          </p:cNvSpPr>
          <p:nvPr/>
        </p:nvSpPr>
        <p:spPr>
          <a:xfrm>
            <a:off x="542925" y="1238250"/>
            <a:ext cx="11106150" cy="4629150"/>
          </a:xfrm>
          <a:prstGeom prst="roundRect">
            <a:avLst>
              <a:gd name="adj" fmla="val 2469"/>
            </a:avLst>
          </a:prstGeom>
          <a:solidFill>
            <a:srgbClr val="FFFFFF"/>
          </a:solidFill>
          <a:ln w="9525">
            <a:solidFill>
              <a:srgbClr val="D9E2F0"/>
            </a:solidFill>
            <a:prstDash val="solid"/>
          </a:ln>
        </p:spPr>
        <p:txBody>
          <a:bodyPr/>
          <a:lstStyle/>
          <a:p>
            <a:endParaRPr lang="en-US"/>
          </a:p>
        </p:txBody>
      </p:sp>
      <p:pic>
        <p:nvPicPr>
          <p:cNvPr id="14" name="Picture 13"/>
          <p:cNvPicPr>
            <a:picLocks noChangeAspect="1"/>
          </p:cNvPicPr>
          <p:nvPr/>
        </p:nvPicPr>
        <p:blipFill>
          <a:blip r:embed="rId3"/>
          <a:stretch/>
        </p:blipFill>
        <p:spPr>
          <a:xfrm>
            <a:off x="2919110" y="1304925"/>
            <a:ext cx="6353780" cy="4495800"/>
          </a:xfrm>
          <a:prstGeom prst="rect">
            <a:avLst/>
          </a:prstGeom>
        </p:spPr>
      </p:pic>
      <p:sp>
        <p:nvSpPr>
          <p:cNvPr id="6" name="Rectangle: Rounded Corners 5">
            <a:extLst>
              <a:ext uri="{FF2B5EF4-FFF2-40B4-BE49-F238E27FC236}">
                <a16:creationId xmlns:a16="http://schemas.microsoft.com/office/drawing/2014/main" id="{A61D02B4-F427-4EBD-8541-54D55519D809}"/>
              </a:ext>
            </a:extLst>
          </p:cNvPr>
          <p:cNvSpPr>
            <a:spLocks noGrp="1"/>
          </p:cNvSpPr>
          <p:nvPr/>
        </p:nvSpPr>
        <p:spPr>
          <a:xfrm>
            <a:off x="1162050" y="5943600"/>
            <a:ext cx="9867900" cy="400050"/>
          </a:xfrm>
          <a:prstGeom prst="roundRect">
            <a:avLst>
              <a:gd name="adj" fmla="val 28571"/>
            </a:avLst>
          </a:prstGeom>
          <a:solidFill>
            <a:srgbClr val="102A5E"/>
          </a:solidFill>
          <a:ln w="9525">
            <a:solidFill>
              <a:srgbClr val="102A5E"/>
            </a:solidFill>
            <a:prstDash val="solid"/>
          </a:ln>
        </p:spPr>
        <p:txBody>
          <a:bodyPr/>
          <a:lstStyle/>
          <a:p>
            <a:endParaRPr lang="en-US"/>
          </a:p>
        </p:txBody>
      </p:sp>
      <p:sp>
        <p:nvSpPr>
          <p:cNvPr id="7" name="Rectangle 6">
            <a:extLst>
              <a:ext uri="{FF2B5EF4-FFF2-40B4-BE49-F238E27FC236}">
                <a16:creationId xmlns:a16="http://schemas.microsoft.com/office/drawing/2014/main" id="{76B1377E-4C62-4D84-9776-5CE4EC9E4346}"/>
              </a:ext>
            </a:extLst>
          </p:cNvPr>
          <p:cNvSpPr>
            <a:spLocks noGrp="1"/>
          </p:cNvSpPr>
          <p:nvPr/>
        </p:nvSpPr>
        <p:spPr>
          <a:xfrm>
            <a:off x="1352550" y="6000750"/>
            <a:ext cx="9486900" cy="285750"/>
          </a:xfrm>
          <a:prstGeom prst="rect">
            <a:avLst/>
          </a:prstGeom>
          <a:noFill/>
          <a:ln w="0">
            <a:noFill/>
            <a:prstDash val="solid"/>
          </a:ln>
        </p:spPr>
        <p:txBody>
          <a:bodyPr anchor="ctr"/>
          <a:lstStyle/>
          <a:p>
            <a:pPr algn="ctr">
              <a:defRPr sz="1275" b="1">
                <a:solidFill>
                  <a:srgbClr val="FFFFFF"/>
                </a:solidFill>
              </a:defRPr>
            </a:pPr>
            <a:r>
              <a:rPr sz="1275" b="1">
                <a:solidFill>
                  <a:srgbClr val="FFFFFF"/>
                </a:solidFill>
              </a:rPr>
              <a:t>NÓI NHU CẦU   →   AI HỎI THÊM   →   LỌC &amp; SO SÁNH   →   SALE DUYỆT   →   LƯU LỊCH</a:t>
            </a:r>
          </a:p>
        </p:txBody>
      </p:sp>
      <p:sp>
        <p:nvSpPr>
          <p:cNvPr id="8" name="Rectangle 7">
            <a:extLst>
              <a:ext uri="{FF2B5EF4-FFF2-40B4-BE49-F238E27FC236}">
                <a16:creationId xmlns:a16="http://schemas.microsoft.com/office/drawing/2014/main" id="{43073E10-F756-434A-9591-3CD2E211511E}"/>
              </a:ext>
            </a:extLst>
          </p:cNvPr>
          <p:cNvSpPr>
            <a:spLocks noGrp="1"/>
          </p:cNvSpPr>
          <p:nvPr/>
        </p:nvSpPr>
        <p:spPr>
          <a:xfrm>
            <a:off x="609600" y="6486525"/>
            <a:ext cx="3143250" cy="190500"/>
          </a:xfrm>
          <a:prstGeom prst="rect">
            <a:avLst/>
          </a:prstGeom>
          <a:noFill/>
          <a:ln w="0">
            <a:noFill/>
            <a:prstDash val="solid"/>
          </a:ln>
        </p:spPr>
        <p:txBody>
          <a:bodyPr anchor="ctr"/>
          <a:lstStyle/>
          <a:p>
            <a:pPr algn="l">
              <a:defRPr sz="900" b="1">
                <a:solidFill>
                  <a:srgbClr val="64748B"/>
                </a:solidFill>
              </a:defRPr>
            </a:pPr>
            <a:r>
              <a:rPr sz="900" b="1">
                <a:solidFill>
                  <a:srgbClr val="64748B"/>
                </a:solidFill>
              </a:rPr>
              <a:t>XHOME  •  MENTOR DUTY #2</a:t>
            </a:r>
          </a:p>
        </p:txBody>
      </p:sp>
      <p:sp>
        <p:nvSpPr>
          <p:cNvPr id="9" name="Rectangle 8">
            <a:extLst>
              <a:ext uri="{FF2B5EF4-FFF2-40B4-BE49-F238E27FC236}">
                <a16:creationId xmlns:a16="http://schemas.microsoft.com/office/drawing/2014/main" id="{C9E5BEA2-157A-424A-81E2-5EB4CABA8225}"/>
              </a:ext>
            </a:extLst>
          </p:cNvPr>
          <p:cNvSpPr>
            <a:spLocks noGrp="1"/>
          </p:cNvSpPr>
          <p:nvPr/>
        </p:nvSpPr>
        <p:spPr>
          <a:xfrm>
            <a:off x="11068050" y="6486525"/>
            <a:ext cx="514350" cy="190500"/>
          </a:xfrm>
          <a:prstGeom prst="rect">
            <a:avLst/>
          </a:prstGeom>
          <a:noFill/>
          <a:ln w="0">
            <a:noFill/>
            <a:prstDash val="solid"/>
          </a:ln>
        </p:spPr>
        <p:txBody>
          <a:bodyPr anchor="ctr"/>
          <a:lstStyle/>
          <a:p>
            <a:pPr algn="r">
              <a:defRPr sz="900" b="1">
                <a:solidFill>
                  <a:srgbClr val="64748B"/>
                </a:solidFill>
              </a:defRPr>
            </a:pPr>
            <a:r>
              <a:rPr sz="900" b="1">
                <a:solidFill>
                  <a:srgbClr val="64748B"/>
                </a:solidFill>
              </a:rPr>
              <a:t>03</a:t>
            </a:r>
          </a:p>
        </p:txBody>
      </p:sp>
    </p:spTree>
    <p:extLst>
      <p:ext uri="{BB962C8B-B14F-4D97-AF65-F5344CB8AC3E}">
        <p14:creationId xmlns:p14="http://schemas.microsoft.com/office/powerpoint/2010/main" val="13190672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B5BAB209-02B2-4E79-B89B-57F096DF3858}"/>
              </a:ext>
            </a:extLst>
          </p:cNvPr>
          <p:cNvSpPr>
            <a:spLocks noGrp="1"/>
          </p:cNvSpPr>
          <p:nvPr/>
        </p:nvSpPr>
        <p:spPr>
          <a:xfrm>
            <a:off x="609600" y="295275"/>
            <a:ext cx="3238500" cy="228600"/>
          </a:xfrm>
          <a:prstGeom prst="rect">
            <a:avLst/>
          </a:prstGeom>
          <a:noFill/>
          <a:ln w="0">
            <a:noFill/>
            <a:prstDash val="solid"/>
          </a:ln>
        </p:spPr>
        <p:txBody>
          <a:bodyPr anchor="ctr"/>
          <a:lstStyle/>
          <a:p>
            <a:pPr algn="l">
              <a:defRPr sz="1050" b="1">
                <a:solidFill>
                  <a:srgbClr val="2878D0"/>
                </a:solidFill>
              </a:defRPr>
            </a:pPr>
            <a:r>
              <a:rPr sz="1050" b="1">
                <a:solidFill>
                  <a:srgbClr val="2878D0"/>
                </a:solidFill>
              </a:rPr>
              <a:t>CÁCH GIẢI QUYẾT</a:t>
            </a:r>
          </a:p>
        </p:txBody>
      </p:sp>
      <p:sp>
        <p:nvSpPr>
          <p:cNvPr id="2" name="Rectangle 1">
            <a:extLst>
              <a:ext uri="{FF2B5EF4-FFF2-40B4-BE49-F238E27FC236}">
                <a16:creationId xmlns:a16="http://schemas.microsoft.com/office/drawing/2014/main" id="{3C92DC25-7560-450D-88BE-05867FEB4B05}"/>
              </a:ext>
            </a:extLst>
          </p:cNvPr>
          <p:cNvSpPr>
            <a:spLocks noGrp="1"/>
          </p:cNvSpPr>
          <p:nvPr/>
        </p:nvSpPr>
        <p:spPr>
          <a:xfrm>
            <a:off x="609600" y="514350"/>
            <a:ext cx="10972800" cy="523875"/>
          </a:xfrm>
          <a:prstGeom prst="rect">
            <a:avLst/>
          </a:prstGeom>
          <a:noFill/>
          <a:ln w="0">
            <a:noFill/>
            <a:prstDash val="solid"/>
          </a:ln>
        </p:spPr>
        <p:txBody>
          <a:bodyPr anchor="ctr"/>
          <a:lstStyle/>
          <a:p>
            <a:pPr algn="l">
              <a:defRPr sz="2850" b="1">
                <a:solidFill>
                  <a:srgbClr val="102A5E"/>
                </a:solidFill>
              </a:defRPr>
            </a:pPr>
            <a:r>
              <a:rPr sz="2850" b="1">
                <a:solidFill>
                  <a:srgbClr val="102A5E"/>
                </a:solidFill>
              </a:rPr>
              <a:t>Ba điểm nghẽn chính đều có bước kiểm soát</a:t>
            </a:r>
          </a:p>
        </p:txBody>
      </p:sp>
      <p:sp>
        <p:nvSpPr>
          <p:cNvPr id="3" name="Rectangle 2">
            <a:extLst>
              <a:ext uri="{FF2B5EF4-FFF2-40B4-BE49-F238E27FC236}">
                <a16:creationId xmlns:a16="http://schemas.microsoft.com/office/drawing/2014/main" id="{D4A83D61-D15C-43C3-BA28-FE5AC653FB92}"/>
              </a:ext>
            </a:extLst>
          </p:cNvPr>
          <p:cNvSpPr>
            <a:spLocks noGrp="1"/>
          </p:cNvSpPr>
          <p:nvPr/>
        </p:nvSpPr>
        <p:spPr>
          <a:xfrm>
            <a:off x="609600" y="1104900"/>
            <a:ext cx="10972800" cy="28575"/>
          </a:xfrm>
          <a:prstGeom prst="rect">
            <a:avLst/>
          </a:prstGeom>
          <a:solidFill>
            <a:srgbClr val="D9E2F0"/>
          </a:solidFill>
          <a:ln w="0">
            <a:solidFill>
              <a:srgbClr val="D9E2F0"/>
            </a:solidFill>
            <a:prstDash val="solid"/>
          </a:ln>
        </p:spPr>
        <p:txBody>
          <a:bodyPr/>
          <a:lstStyle/>
          <a:p>
            <a:endParaRPr lang="en-US"/>
          </a:p>
        </p:txBody>
      </p:sp>
      <p:sp>
        <p:nvSpPr>
          <p:cNvPr id="4" name="Rectangle 3">
            <a:extLst>
              <a:ext uri="{FF2B5EF4-FFF2-40B4-BE49-F238E27FC236}">
                <a16:creationId xmlns:a16="http://schemas.microsoft.com/office/drawing/2014/main" id="{742DD026-E17E-4B92-9EC5-465DE2B4A573}"/>
              </a:ext>
            </a:extLst>
          </p:cNvPr>
          <p:cNvSpPr>
            <a:spLocks noGrp="1"/>
          </p:cNvSpPr>
          <p:nvPr/>
        </p:nvSpPr>
        <p:spPr>
          <a:xfrm>
            <a:off x="609600" y="1504950"/>
            <a:ext cx="438150" cy="438150"/>
          </a:xfrm>
          <a:prstGeom prst="rect">
            <a:avLst/>
          </a:prstGeom>
          <a:noFill/>
          <a:ln w="0">
            <a:noFill/>
            <a:prstDash val="solid"/>
          </a:ln>
        </p:spPr>
        <p:txBody>
          <a:bodyPr anchor="ctr"/>
          <a:lstStyle/>
          <a:p>
            <a:pPr algn="ctr">
              <a:defRPr sz="2250" b="1">
                <a:solidFill>
                  <a:srgbClr val="2878D0"/>
                </a:solidFill>
              </a:defRPr>
            </a:pPr>
            <a:r>
              <a:rPr sz="2250" b="1">
                <a:solidFill>
                  <a:srgbClr val="2878D0"/>
                </a:solidFill>
              </a:rPr>
              <a:t>1</a:t>
            </a:r>
          </a:p>
        </p:txBody>
      </p:sp>
      <p:sp>
        <p:nvSpPr>
          <p:cNvPr id="5" name="Rectangle 4">
            <a:extLst>
              <a:ext uri="{FF2B5EF4-FFF2-40B4-BE49-F238E27FC236}">
                <a16:creationId xmlns:a16="http://schemas.microsoft.com/office/drawing/2014/main" id="{21BB1613-9755-4ED8-A907-6C2B5E036961}"/>
              </a:ext>
            </a:extLst>
          </p:cNvPr>
          <p:cNvSpPr>
            <a:spLocks noGrp="1"/>
          </p:cNvSpPr>
          <p:nvPr/>
        </p:nvSpPr>
        <p:spPr>
          <a:xfrm>
            <a:off x="1162050" y="1485900"/>
            <a:ext cx="3810000" cy="304800"/>
          </a:xfrm>
          <a:prstGeom prst="rect">
            <a:avLst/>
          </a:prstGeom>
          <a:noFill/>
          <a:ln w="0">
            <a:noFill/>
            <a:prstDash val="solid"/>
          </a:ln>
        </p:spPr>
        <p:txBody>
          <a:bodyPr anchor="ctr"/>
          <a:lstStyle/>
          <a:p>
            <a:pPr algn="l">
              <a:defRPr sz="1650" b="1">
                <a:solidFill>
                  <a:srgbClr val="17233B"/>
                </a:solidFill>
              </a:defRPr>
            </a:pPr>
            <a:r>
              <a:rPr sz="1650" b="1">
                <a:solidFill>
                  <a:srgbClr val="17233B"/>
                </a:solidFill>
              </a:rPr>
              <a:t>Khách nói nhu cầu còn mơ hồ</a:t>
            </a:r>
          </a:p>
        </p:txBody>
      </p:sp>
      <p:sp>
        <p:nvSpPr>
          <p:cNvPr id="6" name="Rectangle 5">
            <a:extLst>
              <a:ext uri="{FF2B5EF4-FFF2-40B4-BE49-F238E27FC236}">
                <a16:creationId xmlns:a16="http://schemas.microsoft.com/office/drawing/2014/main" id="{7A101856-8FD1-42E7-9D64-893F50B04B48}"/>
              </a:ext>
            </a:extLst>
          </p:cNvPr>
          <p:cNvSpPr>
            <a:spLocks noGrp="1"/>
          </p:cNvSpPr>
          <p:nvPr/>
        </p:nvSpPr>
        <p:spPr>
          <a:xfrm>
            <a:off x="1162050" y="1866900"/>
            <a:ext cx="4000500" cy="514350"/>
          </a:xfrm>
          <a:prstGeom prst="rect">
            <a:avLst/>
          </a:prstGeom>
          <a:noFill/>
          <a:ln w="0">
            <a:noFill/>
            <a:prstDash val="solid"/>
          </a:ln>
        </p:spPr>
        <p:txBody>
          <a:bodyPr anchor="ctr"/>
          <a:lstStyle/>
          <a:p>
            <a:pPr algn="l">
              <a:defRPr sz="1425" b="0">
                <a:solidFill>
                  <a:srgbClr val="64748B"/>
                </a:solidFill>
              </a:defRPr>
            </a:pPr>
            <a:r>
              <a:rPr sz="1425" b="0">
                <a:solidFill>
                  <a:srgbClr val="64748B"/>
                </a:solidFill>
              </a:rPr>
              <a:t>→  AI hỏi lại cho đủ rồi mới gợi ý</a:t>
            </a:r>
          </a:p>
        </p:txBody>
      </p:sp>
      <p:sp>
        <p:nvSpPr>
          <p:cNvPr id="7" name="Rectangle 6">
            <a:extLst>
              <a:ext uri="{FF2B5EF4-FFF2-40B4-BE49-F238E27FC236}">
                <a16:creationId xmlns:a16="http://schemas.microsoft.com/office/drawing/2014/main" id="{CA5B1D96-7553-4F7B-B380-9087D4CC709F}"/>
              </a:ext>
            </a:extLst>
          </p:cNvPr>
          <p:cNvSpPr>
            <a:spLocks noGrp="1"/>
          </p:cNvSpPr>
          <p:nvPr/>
        </p:nvSpPr>
        <p:spPr>
          <a:xfrm>
            <a:off x="1162050" y="2476500"/>
            <a:ext cx="3905250" cy="19050"/>
          </a:xfrm>
          <a:prstGeom prst="rect">
            <a:avLst/>
          </a:prstGeom>
          <a:solidFill>
            <a:srgbClr val="D9E2F0"/>
          </a:solidFill>
          <a:ln w="0">
            <a:solidFill>
              <a:srgbClr val="D9E2F0"/>
            </a:solidFill>
            <a:prstDash val="solid"/>
          </a:ln>
        </p:spPr>
        <p:txBody>
          <a:bodyPr/>
          <a:lstStyle/>
          <a:p>
            <a:endParaRPr lang="en-US"/>
          </a:p>
        </p:txBody>
      </p:sp>
      <p:sp>
        <p:nvSpPr>
          <p:cNvPr id="8" name="Rectangle 7">
            <a:extLst>
              <a:ext uri="{FF2B5EF4-FFF2-40B4-BE49-F238E27FC236}">
                <a16:creationId xmlns:a16="http://schemas.microsoft.com/office/drawing/2014/main" id="{64BD758C-E01F-4031-882B-71F8195AB38E}"/>
              </a:ext>
            </a:extLst>
          </p:cNvPr>
          <p:cNvSpPr>
            <a:spLocks noGrp="1"/>
          </p:cNvSpPr>
          <p:nvPr/>
        </p:nvSpPr>
        <p:spPr>
          <a:xfrm>
            <a:off x="609600" y="2790825"/>
            <a:ext cx="438150" cy="438150"/>
          </a:xfrm>
          <a:prstGeom prst="rect">
            <a:avLst/>
          </a:prstGeom>
          <a:noFill/>
          <a:ln w="0">
            <a:noFill/>
            <a:prstDash val="solid"/>
          </a:ln>
        </p:spPr>
        <p:txBody>
          <a:bodyPr anchor="ctr"/>
          <a:lstStyle/>
          <a:p>
            <a:pPr algn="ctr">
              <a:defRPr sz="2250" b="1">
                <a:solidFill>
                  <a:srgbClr val="309451"/>
                </a:solidFill>
              </a:defRPr>
            </a:pPr>
            <a:r>
              <a:rPr sz="2250" b="1">
                <a:solidFill>
                  <a:srgbClr val="309451"/>
                </a:solidFill>
              </a:rPr>
              <a:t>2</a:t>
            </a:r>
          </a:p>
        </p:txBody>
      </p:sp>
      <p:sp>
        <p:nvSpPr>
          <p:cNvPr id="9" name="Rectangle 8">
            <a:extLst>
              <a:ext uri="{FF2B5EF4-FFF2-40B4-BE49-F238E27FC236}">
                <a16:creationId xmlns:a16="http://schemas.microsoft.com/office/drawing/2014/main" id="{937D9AB0-F600-47C7-8BF6-999AAA0555A5}"/>
              </a:ext>
            </a:extLst>
          </p:cNvPr>
          <p:cNvSpPr>
            <a:spLocks noGrp="1"/>
          </p:cNvSpPr>
          <p:nvPr/>
        </p:nvSpPr>
        <p:spPr>
          <a:xfrm>
            <a:off x="1162050" y="2771775"/>
            <a:ext cx="3810000" cy="304800"/>
          </a:xfrm>
          <a:prstGeom prst="rect">
            <a:avLst/>
          </a:prstGeom>
          <a:noFill/>
          <a:ln w="0">
            <a:noFill/>
            <a:prstDash val="solid"/>
          </a:ln>
        </p:spPr>
        <p:txBody>
          <a:bodyPr anchor="ctr"/>
          <a:lstStyle/>
          <a:p>
            <a:pPr algn="l">
              <a:defRPr sz="1650" b="1">
                <a:solidFill>
                  <a:srgbClr val="17233B"/>
                </a:solidFill>
              </a:defRPr>
            </a:pPr>
            <a:r>
              <a:rPr sz="1650" b="1">
                <a:solidFill>
                  <a:srgbClr val="17233B"/>
                </a:solidFill>
              </a:rPr>
              <a:t>Sale phải hỏi lại từ đầu</a:t>
            </a:r>
          </a:p>
        </p:txBody>
      </p:sp>
      <p:sp>
        <p:nvSpPr>
          <p:cNvPr id="10" name="Rectangle 9">
            <a:extLst>
              <a:ext uri="{FF2B5EF4-FFF2-40B4-BE49-F238E27FC236}">
                <a16:creationId xmlns:a16="http://schemas.microsoft.com/office/drawing/2014/main" id="{ABD315E3-CFCD-4648-9755-8651F0F29FE6}"/>
              </a:ext>
            </a:extLst>
          </p:cNvPr>
          <p:cNvSpPr>
            <a:spLocks noGrp="1"/>
          </p:cNvSpPr>
          <p:nvPr/>
        </p:nvSpPr>
        <p:spPr>
          <a:xfrm>
            <a:off x="1162050" y="3152775"/>
            <a:ext cx="4000500" cy="514350"/>
          </a:xfrm>
          <a:prstGeom prst="rect">
            <a:avLst/>
          </a:prstGeom>
          <a:noFill/>
          <a:ln w="0">
            <a:noFill/>
            <a:prstDash val="solid"/>
          </a:ln>
        </p:spPr>
        <p:txBody>
          <a:bodyPr anchor="ctr"/>
          <a:lstStyle/>
          <a:p>
            <a:pPr algn="l">
              <a:defRPr sz="1425" b="0">
                <a:solidFill>
                  <a:srgbClr val="64748B"/>
                </a:solidFill>
              </a:defRPr>
            </a:pPr>
            <a:r>
              <a:rPr sz="1425" b="0">
                <a:solidFill>
                  <a:srgbClr val="64748B"/>
                </a:solidFill>
              </a:rPr>
              <a:t>→  Chuyển hồ sơ nhu cầu tường minh</a:t>
            </a:r>
          </a:p>
        </p:txBody>
      </p:sp>
      <p:sp>
        <p:nvSpPr>
          <p:cNvPr id="11" name="Rectangle 10">
            <a:extLst>
              <a:ext uri="{FF2B5EF4-FFF2-40B4-BE49-F238E27FC236}">
                <a16:creationId xmlns:a16="http://schemas.microsoft.com/office/drawing/2014/main" id="{82B3542E-4F4C-4E7A-9220-8164DA7AC3B6}"/>
              </a:ext>
            </a:extLst>
          </p:cNvPr>
          <p:cNvSpPr>
            <a:spLocks noGrp="1"/>
          </p:cNvSpPr>
          <p:nvPr/>
        </p:nvSpPr>
        <p:spPr>
          <a:xfrm>
            <a:off x="1162050" y="3762375"/>
            <a:ext cx="3905250" cy="19050"/>
          </a:xfrm>
          <a:prstGeom prst="rect">
            <a:avLst/>
          </a:prstGeom>
          <a:solidFill>
            <a:srgbClr val="D9E2F0"/>
          </a:solidFill>
          <a:ln w="0">
            <a:solidFill>
              <a:srgbClr val="D9E2F0"/>
            </a:solidFill>
            <a:prstDash val="solid"/>
          </a:ln>
        </p:spPr>
        <p:txBody>
          <a:bodyPr/>
          <a:lstStyle/>
          <a:p>
            <a:endParaRPr lang="en-US"/>
          </a:p>
        </p:txBody>
      </p:sp>
      <p:sp>
        <p:nvSpPr>
          <p:cNvPr id="12" name="Rectangle 11">
            <a:extLst>
              <a:ext uri="{FF2B5EF4-FFF2-40B4-BE49-F238E27FC236}">
                <a16:creationId xmlns:a16="http://schemas.microsoft.com/office/drawing/2014/main" id="{F0C87CA8-3BA3-450A-91A8-B3F000712613}"/>
              </a:ext>
            </a:extLst>
          </p:cNvPr>
          <p:cNvSpPr>
            <a:spLocks noGrp="1"/>
          </p:cNvSpPr>
          <p:nvPr/>
        </p:nvSpPr>
        <p:spPr>
          <a:xfrm>
            <a:off x="609600" y="4076700"/>
            <a:ext cx="438150" cy="438150"/>
          </a:xfrm>
          <a:prstGeom prst="rect">
            <a:avLst/>
          </a:prstGeom>
          <a:noFill/>
          <a:ln w="0">
            <a:noFill/>
            <a:prstDash val="solid"/>
          </a:ln>
        </p:spPr>
        <p:txBody>
          <a:bodyPr anchor="ctr"/>
          <a:lstStyle/>
          <a:p>
            <a:pPr algn="ctr">
              <a:defRPr sz="2250" b="1">
                <a:solidFill>
                  <a:srgbClr val="F39A19"/>
                </a:solidFill>
              </a:defRPr>
            </a:pPr>
            <a:r>
              <a:rPr sz="2250" b="1">
                <a:solidFill>
                  <a:srgbClr val="F39A19"/>
                </a:solidFill>
              </a:rPr>
              <a:t>3</a:t>
            </a:r>
          </a:p>
        </p:txBody>
      </p:sp>
      <p:sp>
        <p:nvSpPr>
          <p:cNvPr id="13" name="Rectangle 12">
            <a:extLst>
              <a:ext uri="{FF2B5EF4-FFF2-40B4-BE49-F238E27FC236}">
                <a16:creationId xmlns:a16="http://schemas.microsoft.com/office/drawing/2014/main" id="{117F60A1-4049-4D62-9DF8-94548345ABF2}"/>
              </a:ext>
            </a:extLst>
          </p:cNvPr>
          <p:cNvSpPr>
            <a:spLocks noGrp="1"/>
          </p:cNvSpPr>
          <p:nvPr/>
        </p:nvSpPr>
        <p:spPr>
          <a:xfrm>
            <a:off x="1162050" y="4057650"/>
            <a:ext cx="3810000" cy="304800"/>
          </a:xfrm>
          <a:prstGeom prst="rect">
            <a:avLst/>
          </a:prstGeom>
          <a:noFill/>
          <a:ln w="0">
            <a:noFill/>
            <a:prstDash val="solid"/>
          </a:ln>
        </p:spPr>
        <p:txBody>
          <a:bodyPr anchor="ctr"/>
          <a:lstStyle/>
          <a:p>
            <a:pPr algn="l">
              <a:defRPr sz="1650" b="1">
                <a:solidFill>
                  <a:srgbClr val="17233B"/>
                </a:solidFill>
              </a:defRPr>
            </a:pPr>
            <a:r>
              <a:rPr sz="1650" b="1">
                <a:solidFill>
                  <a:srgbClr val="17233B"/>
                </a:solidFill>
              </a:rPr>
              <a:t>Lịch sale dễ bị trùng</a:t>
            </a:r>
          </a:p>
        </p:txBody>
      </p:sp>
      <p:sp>
        <p:nvSpPr>
          <p:cNvPr id="14" name="Rectangle 13">
            <a:extLst>
              <a:ext uri="{FF2B5EF4-FFF2-40B4-BE49-F238E27FC236}">
                <a16:creationId xmlns:a16="http://schemas.microsoft.com/office/drawing/2014/main" id="{F18ACFBF-B77D-46BE-98F1-784E2A5DDAA2}"/>
              </a:ext>
            </a:extLst>
          </p:cNvPr>
          <p:cNvSpPr>
            <a:spLocks noGrp="1"/>
          </p:cNvSpPr>
          <p:nvPr/>
        </p:nvSpPr>
        <p:spPr>
          <a:xfrm>
            <a:off x="1162050" y="4438650"/>
            <a:ext cx="4000500" cy="514350"/>
          </a:xfrm>
          <a:prstGeom prst="rect">
            <a:avLst/>
          </a:prstGeom>
          <a:noFill/>
          <a:ln w="0">
            <a:noFill/>
            <a:prstDash val="solid"/>
          </a:ln>
        </p:spPr>
        <p:txBody>
          <a:bodyPr anchor="ctr"/>
          <a:lstStyle/>
          <a:p>
            <a:pPr algn="l">
              <a:defRPr sz="1425" b="0">
                <a:solidFill>
                  <a:srgbClr val="64748B"/>
                </a:solidFill>
              </a:defRPr>
            </a:pPr>
            <a:r>
              <a:rPr sz="1425" b="0">
                <a:solidFill>
                  <a:srgbClr val="64748B"/>
                </a:solidFill>
              </a:rPr>
              <a:t>→  Kiểm tra lịch và chờ sale xác nhận</a:t>
            </a:r>
          </a:p>
        </p:txBody>
      </p:sp>
      <p:sp>
        <p:nvSpPr>
          <p:cNvPr id="15" name="Rectangle 14">
            <a:extLst>
              <a:ext uri="{FF2B5EF4-FFF2-40B4-BE49-F238E27FC236}">
                <a16:creationId xmlns:a16="http://schemas.microsoft.com/office/drawing/2014/main" id="{EDE0D96D-AFFF-4600-9C47-57F8FA991078}"/>
              </a:ext>
            </a:extLst>
          </p:cNvPr>
          <p:cNvSpPr>
            <a:spLocks noGrp="1"/>
          </p:cNvSpPr>
          <p:nvPr/>
        </p:nvSpPr>
        <p:spPr>
          <a:xfrm>
            <a:off x="1162050" y="5048250"/>
            <a:ext cx="3905250" cy="19050"/>
          </a:xfrm>
          <a:prstGeom prst="rect">
            <a:avLst/>
          </a:prstGeom>
          <a:solidFill>
            <a:srgbClr val="D9E2F0"/>
          </a:solidFill>
          <a:ln w="0">
            <a:solidFill>
              <a:srgbClr val="D9E2F0"/>
            </a:solidFill>
            <a:prstDash val="solid"/>
          </a:ln>
        </p:spPr>
        <p:txBody>
          <a:bodyPr/>
          <a:lstStyle/>
          <a:p>
            <a:endParaRPr lang="en-US"/>
          </a:p>
        </p:txBody>
      </p:sp>
      <p:sp>
        <p:nvSpPr>
          <p:cNvPr id="16" name="Rectangle: Rounded Corners 15">
            <a:extLst>
              <a:ext uri="{FF2B5EF4-FFF2-40B4-BE49-F238E27FC236}">
                <a16:creationId xmlns:a16="http://schemas.microsoft.com/office/drawing/2014/main" id="{121EB22F-BFED-465F-881C-B0EA1FE70E75}"/>
              </a:ext>
            </a:extLst>
          </p:cNvPr>
          <p:cNvSpPr>
            <a:spLocks noGrp="1"/>
          </p:cNvSpPr>
          <p:nvPr/>
        </p:nvSpPr>
        <p:spPr>
          <a:xfrm>
            <a:off x="5438775" y="1352550"/>
            <a:ext cx="6210300" cy="4533900"/>
          </a:xfrm>
          <a:prstGeom prst="roundRect">
            <a:avLst>
              <a:gd name="adj" fmla="val 2521"/>
            </a:avLst>
          </a:prstGeom>
          <a:solidFill>
            <a:srgbClr val="FFFFFF"/>
          </a:solidFill>
          <a:ln w="9525">
            <a:solidFill>
              <a:srgbClr val="D9E2F0"/>
            </a:solidFill>
            <a:prstDash val="solid"/>
          </a:ln>
        </p:spPr>
        <p:txBody>
          <a:bodyPr/>
          <a:lstStyle/>
          <a:p>
            <a:endParaRPr lang="en-US"/>
          </a:p>
        </p:txBody>
      </p:sp>
      <p:pic>
        <p:nvPicPr>
          <p:cNvPr id="38" name="Picture 37"/>
          <p:cNvPicPr>
            <a:picLocks noChangeAspect="1"/>
          </p:cNvPicPr>
          <p:nvPr/>
        </p:nvPicPr>
        <p:blipFill>
          <a:blip r:embed="rId3"/>
          <a:stretch/>
        </p:blipFill>
        <p:spPr>
          <a:xfrm>
            <a:off x="5505450" y="1469539"/>
            <a:ext cx="6076950" cy="4299921"/>
          </a:xfrm>
          <a:prstGeom prst="rect">
            <a:avLst/>
          </a:prstGeom>
        </p:spPr>
      </p:pic>
      <p:sp>
        <p:nvSpPr>
          <p:cNvPr id="18" name="Rectangle: Rounded Corners 17">
            <a:extLst>
              <a:ext uri="{FF2B5EF4-FFF2-40B4-BE49-F238E27FC236}">
                <a16:creationId xmlns:a16="http://schemas.microsoft.com/office/drawing/2014/main" id="{D2AFB1D6-970D-47EF-B098-8DBBEC8682A4}"/>
              </a:ext>
            </a:extLst>
          </p:cNvPr>
          <p:cNvSpPr>
            <a:spLocks noGrp="1"/>
          </p:cNvSpPr>
          <p:nvPr/>
        </p:nvSpPr>
        <p:spPr>
          <a:xfrm>
            <a:off x="609600" y="5619750"/>
            <a:ext cx="4457700" cy="628650"/>
          </a:xfrm>
          <a:prstGeom prst="roundRect">
            <a:avLst>
              <a:gd name="adj" fmla="val 18182"/>
            </a:avLst>
          </a:prstGeom>
          <a:solidFill>
            <a:srgbClr val="EAF7EF"/>
          </a:solidFill>
          <a:ln w="9525">
            <a:solidFill>
              <a:srgbClr val="309451"/>
            </a:solidFill>
            <a:prstDash val="solid"/>
          </a:ln>
        </p:spPr>
        <p:txBody>
          <a:bodyPr/>
          <a:lstStyle/>
          <a:p>
            <a:endParaRPr lang="en-US"/>
          </a:p>
        </p:txBody>
      </p:sp>
      <p:sp>
        <p:nvSpPr>
          <p:cNvPr id="19" name="Rectangle 18">
            <a:extLst>
              <a:ext uri="{FF2B5EF4-FFF2-40B4-BE49-F238E27FC236}">
                <a16:creationId xmlns:a16="http://schemas.microsoft.com/office/drawing/2014/main" id="{2C39A9BA-71D1-410F-B63C-B2036426235E}"/>
              </a:ext>
            </a:extLst>
          </p:cNvPr>
          <p:cNvSpPr>
            <a:spLocks noGrp="1"/>
          </p:cNvSpPr>
          <p:nvPr/>
        </p:nvSpPr>
        <p:spPr>
          <a:xfrm>
            <a:off x="790575" y="5734050"/>
            <a:ext cx="4095750" cy="400050"/>
          </a:xfrm>
          <a:prstGeom prst="rect">
            <a:avLst/>
          </a:prstGeom>
          <a:noFill/>
          <a:ln w="0">
            <a:noFill/>
            <a:prstDash val="solid"/>
          </a:ln>
        </p:spPr>
        <p:txBody>
          <a:bodyPr anchor="ctr"/>
          <a:lstStyle/>
          <a:p>
            <a:pPr algn="ctr">
              <a:defRPr sz="1425" b="1">
                <a:solidFill>
                  <a:srgbClr val="309451"/>
                </a:solidFill>
              </a:defRPr>
            </a:pPr>
            <a:r>
              <a:rPr sz="1425" b="1">
                <a:solidFill>
                  <a:srgbClr val="309451"/>
                </a:solidFill>
              </a:rPr>
              <a:t>Nguyên tắc HITL: sale xác nhận trước khi chốt lịch</a:t>
            </a:r>
          </a:p>
        </p:txBody>
      </p:sp>
      <p:sp>
        <p:nvSpPr>
          <p:cNvPr id="20" name="Rectangle 19">
            <a:extLst>
              <a:ext uri="{FF2B5EF4-FFF2-40B4-BE49-F238E27FC236}">
                <a16:creationId xmlns:a16="http://schemas.microsoft.com/office/drawing/2014/main" id="{65A43FAC-9A2C-4BFC-8406-BD2580DED0B9}"/>
              </a:ext>
            </a:extLst>
          </p:cNvPr>
          <p:cNvSpPr>
            <a:spLocks noGrp="1"/>
          </p:cNvSpPr>
          <p:nvPr/>
        </p:nvSpPr>
        <p:spPr>
          <a:xfrm>
            <a:off x="609600" y="6486525"/>
            <a:ext cx="3143250" cy="190500"/>
          </a:xfrm>
          <a:prstGeom prst="rect">
            <a:avLst/>
          </a:prstGeom>
          <a:noFill/>
          <a:ln w="0">
            <a:noFill/>
            <a:prstDash val="solid"/>
          </a:ln>
        </p:spPr>
        <p:txBody>
          <a:bodyPr anchor="ctr"/>
          <a:lstStyle/>
          <a:p>
            <a:pPr algn="l">
              <a:defRPr sz="900" b="1">
                <a:solidFill>
                  <a:srgbClr val="64748B"/>
                </a:solidFill>
              </a:defRPr>
            </a:pPr>
            <a:r>
              <a:rPr sz="900" b="1">
                <a:solidFill>
                  <a:srgbClr val="64748B"/>
                </a:solidFill>
              </a:rPr>
              <a:t>XHOME  •  MENTOR DUTY #2</a:t>
            </a:r>
          </a:p>
        </p:txBody>
      </p:sp>
      <p:sp>
        <p:nvSpPr>
          <p:cNvPr id="21" name="Rectangle 20">
            <a:extLst>
              <a:ext uri="{FF2B5EF4-FFF2-40B4-BE49-F238E27FC236}">
                <a16:creationId xmlns:a16="http://schemas.microsoft.com/office/drawing/2014/main" id="{D1822414-DE6E-4665-B042-8836034BF036}"/>
              </a:ext>
            </a:extLst>
          </p:cNvPr>
          <p:cNvSpPr>
            <a:spLocks noGrp="1"/>
          </p:cNvSpPr>
          <p:nvPr/>
        </p:nvSpPr>
        <p:spPr>
          <a:xfrm>
            <a:off x="11068050" y="6486525"/>
            <a:ext cx="514350" cy="190500"/>
          </a:xfrm>
          <a:prstGeom prst="rect">
            <a:avLst/>
          </a:prstGeom>
          <a:noFill/>
          <a:ln w="0">
            <a:noFill/>
            <a:prstDash val="solid"/>
          </a:ln>
        </p:spPr>
        <p:txBody>
          <a:bodyPr anchor="ctr"/>
          <a:lstStyle/>
          <a:p>
            <a:pPr algn="r">
              <a:defRPr sz="900" b="1">
                <a:solidFill>
                  <a:srgbClr val="64748B"/>
                </a:solidFill>
              </a:defRPr>
            </a:pPr>
            <a:r>
              <a:rPr sz="900" b="1">
                <a:solidFill>
                  <a:srgbClr val="64748B"/>
                </a:solidFill>
              </a:rPr>
              <a:t>04</a:t>
            </a:r>
          </a:p>
        </p:txBody>
      </p:sp>
    </p:spTree>
    <p:extLst>
      <p:ext uri="{BB962C8B-B14F-4D97-AF65-F5344CB8AC3E}">
        <p14:creationId xmlns:p14="http://schemas.microsoft.com/office/powerpoint/2010/main" val="1210396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A1038C10-3C23-4AAB-A010-DBD4D00DC904}"/>
              </a:ext>
            </a:extLst>
          </p:cNvPr>
          <p:cNvSpPr>
            <a:spLocks noGrp="1"/>
          </p:cNvSpPr>
          <p:nvPr/>
        </p:nvSpPr>
        <p:spPr>
          <a:xfrm>
            <a:off x="609600" y="295275"/>
            <a:ext cx="3238500" cy="228600"/>
          </a:xfrm>
          <a:prstGeom prst="rect">
            <a:avLst/>
          </a:prstGeom>
          <a:noFill/>
          <a:ln w="0">
            <a:noFill/>
            <a:prstDash val="solid"/>
          </a:ln>
        </p:spPr>
        <p:txBody>
          <a:bodyPr anchor="ctr"/>
          <a:lstStyle/>
          <a:p>
            <a:pPr algn="l">
              <a:defRPr sz="1050" b="1">
                <a:solidFill>
                  <a:srgbClr val="2878D0"/>
                </a:solidFill>
              </a:defRPr>
            </a:pPr>
            <a:r>
              <a:rPr sz="1050" b="1">
                <a:solidFill>
                  <a:srgbClr val="2878D0"/>
                </a:solidFill>
              </a:rPr>
              <a:t>TIẾN ĐỘ MVP</a:t>
            </a:r>
          </a:p>
        </p:txBody>
      </p:sp>
      <p:sp>
        <p:nvSpPr>
          <p:cNvPr id="2" name="Rectangle 1">
            <a:extLst>
              <a:ext uri="{FF2B5EF4-FFF2-40B4-BE49-F238E27FC236}">
                <a16:creationId xmlns:a16="http://schemas.microsoft.com/office/drawing/2014/main" id="{9120F0B1-0307-43D6-AE34-33E7FE1BA71F}"/>
              </a:ext>
            </a:extLst>
          </p:cNvPr>
          <p:cNvSpPr>
            <a:spLocks noGrp="1"/>
          </p:cNvSpPr>
          <p:nvPr/>
        </p:nvSpPr>
        <p:spPr>
          <a:xfrm>
            <a:off x="609600" y="514350"/>
            <a:ext cx="10972800" cy="523875"/>
          </a:xfrm>
          <a:prstGeom prst="rect">
            <a:avLst/>
          </a:prstGeom>
          <a:noFill/>
          <a:ln w="0">
            <a:noFill/>
            <a:prstDash val="solid"/>
          </a:ln>
        </p:spPr>
        <p:txBody>
          <a:bodyPr anchor="ctr"/>
          <a:lstStyle/>
          <a:p>
            <a:pPr algn="l">
              <a:defRPr sz="2850" b="1">
                <a:solidFill>
                  <a:srgbClr val="102A5E"/>
                </a:solidFill>
              </a:defRPr>
            </a:pPr>
            <a:endParaRPr sz="2850" b="1" dirty="0">
              <a:solidFill>
                <a:srgbClr val="102A5E"/>
              </a:solidFill>
            </a:endParaRPr>
          </a:p>
        </p:txBody>
      </p:sp>
      <p:sp>
        <p:nvSpPr>
          <p:cNvPr id="3" name="Rectangle 2">
            <a:extLst>
              <a:ext uri="{FF2B5EF4-FFF2-40B4-BE49-F238E27FC236}">
                <a16:creationId xmlns:a16="http://schemas.microsoft.com/office/drawing/2014/main" id="{B42C57BE-6ADF-4492-B9B1-FF54813DC24D}"/>
              </a:ext>
            </a:extLst>
          </p:cNvPr>
          <p:cNvSpPr>
            <a:spLocks noGrp="1"/>
          </p:cNvSpPr>
          <p:nvPr/>
        </p:nvSpPr>
        <p:spPr>
          <a:xfrm>
            <a:off x="609600" y="1104900"/>
            <a:ext cx="10972800" cy="28575"/>
          </a:xfrm>
          <a:prstGeom prst="rect">
            <a:avLst/>
          </a:prstGeom>
          <a:solidFill>
            <a:srgbClr val="D9E2F0"/>
          </a:solidFill>
          <a:ln w="0">
            <a:solidFill>
              <a:srgbClr val="D9E2F0"/>
            </a:solidFill>
            <a:prstDash val="solid"/>
          </a:ln>
        </p:spPr>
        <p:txBody>
          <a:bodyPr/>
          <a:lstStyle/>
          <a:p>
            <a:endParaRPr lang="en-US"/>
          </a:p>
        </p:txBody>
      </p:sp>
      <p:sp>
        <p:nvSpPr>
          <p:cNvPr id="4" name="Rectangle 3">
            <a:extLst>
              <a:ext uri="{FF2B5EF4-FFF2-40B4-BE49-F238E27FC236}">
                <a16:creationId xmlns:a16="http://schemas.microsoft.com/office/drawing/2014/main" id="{016582D4-4475-4BAB-B419-D8BACB85C26E}"/>
              </a:ext>
            </a:extLst>
          </p:cNvPr>
          <p:cNvSpPr>
            <a:spLocks noGrp="1"/>
          </p:cNvSpPr>
          <p:nvPr/>
        </p:nvSpPr>
        <p:spPr>
          <a:xfrm>
            <a:off x="609600" y="1304925"/>
            <a:ext cx="10763250" cy="342900"/>
          </a:xfrm>
          <a:prstGeom prst="rect">
            <a:avLst/>
          </a:prstGeom>
          <a:noFill/>
          <a:ln w="0">
            <a:noFill/>
            <a:prstDash val="solid"/>
          </a:ln>
        </p:spPr>
        <p:txBody>
          <a:bodyPr anchor="ctr"/>
          <a:lstStyle/>
          <a:p>
            <a:pPr algn="l">
              <a:defRPr sz="1575" b="0">
                <a:solidFill>
                  <a:srgbClr val="64748B"/>
                </a:solidFill>
              </a:defRPr>
            </a:pPr>
            <a:r>
              <a:rPr sz="1575" b="0">
                <a:solidFill>
                  <a:srgbClr val="64748B"/>
                </a:solidFill>
              </a:rPr>
              <a:t>AI chỉ tư vấn tốt khi dữ liệu căn và lịch sale đủ rõ, đồng nhất và còn hiệu lực.</a:t>
            </a:r>
          </a:p>
        </p:txBody>
      </p:sp>
      <p:sp>
        <p:nvSpPr>
          <p:cNvPr id="5" name="Rectangle 4">
            <a:extLst>
              <a:ext uri="{FF2B5EF4-FFF2-40B4-BE49-F238E27FC236}">
                <a16:creationId xmlns:a16="http://schemas.microsoft.com/office/drawing/2014/main" id="{7B41B863-7F2F-4ED0-8B40-F18DAB0A7997}"/>
              </a:ext>
            </a:extLst>
          </p:cNvPr>
          <p:cNvSpPr>
            <a:spLocks noGrp="1"/>
          </p:cNvSpPr>
          <p:nvPr/>
        </p:nvSpPr>
        <p:spPr>
          <a:xfrm>
            <a:off x="609600" y="1924050"/>
            <a:ext cx="4286250" cy="285750"/>
          </a:xfrm>
          <a:prstGeom prst="rect">
            <a:avLst/>
          </a:prstGeom>
          <a:noFill/>
          <a:ln w="0">
            <a:noFill/>
            <a:prstDash val="solid"/>
          </a:ln>
        </p:spPr>
        <p:txBody>
          <a:bodyPr anchor="ctr"/>
          <a:lstStyle/>
          <a:p>
            <a:pPr algn="l">
              <a:defRPr sz="1575" b="1">
                <a:solidFill>
                  <a:srgbClr val="F39A19"/>
                </a:solidFill>
              </a:defRPr>
            </a:pPr>
            <a:r>
              <a:rPr lang="en-US" sz="1575" b="1" dirty="0">
                <a:solidFill>
                  <a:srgbClr val="F39A19"/>
                </a:solidFill>
              </a:rPr>
              <a:t>Công </a:t>
            </a:r>
            <a:r>
              <a:rPr lang="en-US" sz="1575" b="1" dirty="0" err="1">
                <a:solidFill>
                  <a:srgbClr val="F39A19"/>
                </a:solidFill>
              </a:rPr>
              <a:t>việc</a:t>
            </a:r>
            <a:endParaRPr sz="1575" b="1" dirty="0">
              <a:solidFill>
                <a:srgbClr val="F39A19"/>
              </a:solidFill>
            </a:endParaRPr>
          </a:p>
        </p:txBody>
      </p:sp>
      <p:sp>
        <p:nvSpPr>
          <p:cNvPr id="6" name="Rectangle 5">
            <a:extLst>
              <a:ext uri="{FF2B5EF4-FFF2-40B4-BE49-F238E27FC236}">
                <a16:creationId xmlns:a16="http://schemas.microsoft.com/office/drawing/2014/main" id="{1FB086D1-7EB3-4E18-A798-3696FC0B9AD4}"/>
              </a:ext>
            </a:extLst>
          </p:cNvPr>
          <p:cNvSpPr>
            <a:spLocks noGrp="1"/>
          </p:cNvSpPr>
          <p:nvPr/>
        </p:nvSpPr>
        <p:spPr>
          <a:xfrm>
            <a:off x="609600" y="2362200"/>
            <a:ext cx="428625" cy="381000"/>
          </a:xfrm>
          <a:prstGeom prst="rect">
            <a:avLst/>
          </a:prstGeom>
          <a:noFill/>
          <a:ln w="0">
            <a:noFill/>
            <a:prstDash val="solid"/>
          </a:ln>
        </p:spPr>
        <p:txBody>
          <a:bodyPr anchor="ctr"/>
          <a:lstStyle/>
          <a:p>
            <a:pPr algn="ctr">
              <a:defRPr sz="1350" b="1">
                <a:solidFill>
                  <a:srgbClr val="F39A19"/>
                </a:solidFill>
              </a:defRPr>
            </a:pPr>
            <a:r>
              <a:rPr sz="1350" b="1">
                <a:solidFill>
                  <a:srgbClr val="F39A19"/>
                </a:solidFill>
              </a:rPr>
              <a:t>01</a:t>
            </a:r>
          </a:p>
        </p:txBody>
      </p:sp>
      <p:sp>
        <p:nvSpPr>
          <p:cNvPr id="7" name="Rectangle 6">
            <a:extLst>
              <a:ext uri="{FF2B5EF4-FFF2-40B4-BE49-F238E27FC236}">
                <a16:creationId xmlns:a16="http://schemas.microsoft.com/office/drawing/2014/main" id="{882EC687-892B-4F6F-B350-2EE182BBBECB}"/>
              </a:ext>
            </a:extLst>
          </p:cNvPr>
          <p:cNvSpPr>
            <a:spLocks noGrp="1"/>
          </p:cNvSpPr>
          <p:nvPr/>
        </p:nvSpPr>
        <p:spPr>
          <a:xfrm>
            <a:off x="1162050" y="2333625"/>
            <a:ext cx="3714750" cy="257175"/>
          </a:xfrm>
          <a:prstGeom prst="rect">
            <a:avLst/>
          </a:prstGeom>
          <a:noFill/>
          <a:ln w="0">
            <a:noFill/>
            <a:prstDash val="solid"/>
          </a:ln>
        </p:spPr>
        <p:txBody>
          <a:bodyPr anchor="ctr"/>
          <a:lstStyle/>
          <a:p>
            <a:pPr algn="l">
              <a:defRPr sz="1500" b="1">
                <a:solidFill>
                  <a:srgbClr val="17233B"/>
                </a:solidFill>
              </a:defRPr>
            </a:pPr>
            <a:r>
              <a:rPr sz="1500" b="1">
                <a:solidFill>
                  <a:srgbClr val="17233B"/>
                </a:solidFill>
              </a:rPr>
              <a:t>Chốt trường bắt buộc</a:t>
            </a:r>
          </a:p>
        </p:txBody>
      </p:sp>
      <p:sp>
        <p:nvSpPr>
          <p:cNvPr id="8" name="Rectangle 7">
            <a:extLst>
              <a:ext uri="{FF2B5EF4-FFF2-40B4-BE49-F238E27FC236}">
                <a16:creationId xmlns:a16="http://schemas.microsoft.com/office/drawing/2014/main" id="{E46A41F2-0D06-4258-B127-E033285DF84A}"/>
              </a:ext>
            </a:extLst>
          </p:cNvPr>
          <p:cNvSpPr>
            <a:spLocks noGrp="1"/>
          </p:cNvSpPr>
          <p:nvPr/>
        </p:nvSpPr>
        <p:spPr>
          <a:xfrm>
            <a:off x="1162050" y="2600325"/>
            <a:ext cx="3714750" cy="247650"/>
          </a:xfrm>
          <a:prstGeom prst="rect">
            <a:avLst/>
          </a:prstGeom>
          <a:noFill/>
          <a:ln w="0">
            <a:noFill/>
            <a:prstDash val="solid"/>
          </a:ln>
        </p:spPr>
        <p:txBody>
          <a:bodyPr anchor="ctr"/>
          <a:lstStyle/>
          <a:p>
            <a:pPr algn="l">
              <a:defRPr sz="1200" b="0">
                <a:solidFill>
                  <a:srgbClr val="64748B"/>
                </a:solidFill>
              </a:defRPr>
            </a:pPr>
            <a:r>
              <a:rPr sz="1200" b="0">
                <a:solidFill>
                  <a:srgbClr val="64748B"/>
                </a:solidFill>
              </a:rPr>
              <a:t>giá, vị trí, loại căn, trạng thái</a:t>
            </a:r>
          </a:p>
        </p:txBody>
      </p:sp>
      <p:sp>
        <p:nvSpPr>
          <p:cNvPr id="9" name="Rectangle 8">
            <a:extLst>
              <a:ext uri="{FF2B5EF4-FFF2-40B4-BE49-F238E27FC236}">
                <a16:creationId xmlns:a16="http://schemas.microsoft.com/office/drawing/2014/main" id="{AD6A6E85-EDC1-4D08-9D5F-6C7C237A0F37}"/>
              </a:ext>
            </a:extLst>
          </p:cNvPr>
          <p:cNvSpPr>
            <a:spLocks noGrp="1"/>
          </p:cNvSpPr>
          <p:nvPr/>
        </p:nvSpPr>
        <p:spPr>
          <a:xfrm>
            <a:off x="609600" y="3067050"/>
            <a:ext cx="428625" cy="381000"/>
          </a:xfrm>
          <a:prstGeom prst="rect">
            <a:avLst/>
          </a:prstGeom>
          <a:noFill/>
          <a:ln w="0">
            <a:noFill/>
            <a:prstDash val="solid"/>
          </a:ln>
        </p:spPr>
        <p:txBody>
          <a:bodyPr anchor="ctr"/>
          <a:lstStyle/>
          <a:p>
            <a:pPr algn="ctr">
              <a:defRPr sz="1350" b="1">
                <a:solidFill>
                  <a:srgbClr val="F39A19"/>
                </a:solidFill>
              </a:defRPr>
            </a:pPr>
            <a:r>
              <a:rPr sz="1350" b="1">
                <a:solidFill>
                  <a:srgbClr val="F39A19"/>
                </a:solidFill>
              </a:rPr>
              <a:t>02</a:t>
            </a:r>
          </a:p>
        </p:txBody>
      </p:sp>
      <p:sp>
        <p:nvSpPr>
          <p:cNvPr id="10" name="Rectangle 9">
            <a:extLst>
              <a:ext uri="{FF2B5EF4-FFF2-40B4-BE49-F238E27FC236}">
                <a16:creationId xmlns:a16="http://schemas.microsoft.com/office/drawing/2014/main" id="{D0A2F3CC-AE32-41CC-861B-32195D020597}"/>
              </a:ext>
            </a:extLst>
          </p:cNvPr>
          <p:cNvSpPr>
            <a:spLocks noGrp="1"/>
          </p:cNvSpPr>
          <p:nvPr/>
        </p:nvSpPr>
        <p:spPr>
          <a:xfrm>
            <a:off x="1162050" y="3038475"/>
            <a:ext cx="3714750" cy="257175"/>
          </a:xfrm>
          <a:prstGeom prst="rect">
            <a:avLst/>
          </a:prstGeom>
          <a:noFill/>
          <a:ln w="0">
            <a:noFill/>
            <a:prstDash val="solid"/>
          </a:ln>
        </p:spPr>
        <p:txBody>
          <a:bodyPr anchor="ctr"/>
          <a:lstStyle/>
          <a:p>
            <a:pPr algn="l">
              <a:defRPr sz="1500" b="1">
                <a:solidFill>
                  <a:srgbClr val="17233B"/>
                </a:solidFill>
              </a:defRPr>
            </a:pPr>
            <a:r>
              <a:rPr sz="1500" b="1">
                <a:solidFill>
                  <a:srgbClr val="17233B"/>
                </a:solidFill>
              </a:rPr>
              <a:t>Tạo dataset mẫu đủ demo</a:t>
            </a:r>
          </a:p>
        </p:txBody>
      </p:sp>
      <p:sp>
        <p:nvSpPr>
          <p:cNvPr id="11" name="Rectangle 10">
            <a:extLst>
              <a:ext uri="{FF2B5EF4-FFF2-40B4-BE49-F238E27FC236}">
                <a16:creationId xmlns:a16="http://schemas.microsoft.com/office/drawing/2014/main" id="{740FBEE1-7643-406F-BA14-B985EF6277B8}"/>
              </a:ext>
            </a:extLst>
          </p:cNvPr>
          <p:cNvSpPr>
            <a:spLocks noGrp="1"/>
          </p:cNvSpPr>
          <p:nvPr/>
        </p:nvSpPr>
        <p:spPr>
          <a:xfrm>
            <a:off x="1162050" y="3305175"/>
            <a:ext cx="3714750" cy="247650"/>
          </a:xfrm>
          <a:prstGeom prst="rect">
            <a:avLst/>
          </a:prstGeom>
          <a:noFill/>
          <a:ln w="0">
            <a:noFill/>
            <a:prstDash val="solid"/>
          </a:ln>
        </p:spPr>
        <p:txBody>
          <a:bodyPr anchor="ctr"/>
          <a:lstStyle/>
          <a:p>
            <a:pPr algn="l">
              <a:defRPr sz="1200" b="0">
                <a:solidFill>
                  <a:srgbClr val="64748B"/>
                </a:solidFill>
              </a:defRPr>
            </a:pPr>
            <a:r>
              <a:rPr sz="1200" b="0">
                <a:solidFill>
                  <a:srgbClr val="64748B"/>
                </a:solidFill>
              </a:rPr>
              <a:t>có cả trường hợp thiếu dữ liệu</a:t>
            </a:r>
          </a:p>
        </p:txBody>
      </p:sp>
      <p:sp>
        <p:nvSpPr>
          <p:cNvPr id="12" name="Rectangle 11">
            <a:extLst>
              <a:ext uri="{FF2B5EF4-FFF2-40B4-BE49-F238E27FC236}">
                <a16:creationId xmlns:a16="http://schemas.microsoft.com/office/drawing/2014/main" id="{1BDA4BF0-E68C-4C2C-BDC9-372406DBF18F}"/>
              </a:ext>
            </a:extLst>
          </p:cNvPr>
          <p:cNvSpPr>
            <a:spLocks noGrp="1"/>
          </p:cNvSpPr>
          <p:nvPr/>
        </p:nvSpPr>
        <p:spPr>
          <a:xfrm>
            <a:off x="609600" y="3771900"/>
            <a:ext cx="428625" cy="381000"/>
          </a:xfrm>
          <a:prstGeom prst="rect">
            <a:avLst/>
          </a:prstGeom>
          <a:noFill/>
          <a:ln w="0">
            <a:noFill/>
            <a:prstDash val="solid"/>
          </a:ln>
        </p:spPr>
        <p:txBody>
          <a:bodyPr anchor="ctr"/>
          <a:lstStyle/>
          <a:p>
            <a:pPr algn="ctr">
              <a:defRPr sz="1350" b="1">
                <a:solidFill>
                  <a:srgbClr val="F39A19"/>
                </a:solidFill>
              </a:defRPr>
            </a:pPr>
            <a:r>
              <a:rPr sz="1350" b="1">
                <a:solidFill>
                  <a:srgbClr val="F39A19"/>
                </a:solidFill>
              </a:rPr>
              <a:t>03</a:t>
            </a:r>
          </a:p>
        </p:txBody>
      </p:sp>
      <p:sp>
        <p:nvSpPr>
          <p:cNvPr id="13" name="Rectangle 12">
            <a:extLst>
              <a:ext uri="{FF2B5EF4-FFF2-40B4-BE49-F238E27FC236}">
                <a16:creationId xmlns:a16="http://schemas.microsoft.com/office/drawing/2014/main" id="{F397008A-D606-4AF1-A9FE-DEF5EA31A4DF}"/>
              </a:ext>
            </a:extLst>
          </p:cNvPr>
          <p:cNvSpPr>
            <a:spLocks noGrp="1"/>
          </p:cNvSpPr>
          <p:nvPr/>
        </p:nvSpPr>
        <p:spPr>
          <a:xfrm>
            <a:off x="1162050" y="3743325"/>
            <a:ext cx="3714750" cy="257175"/>
          </a:xfrm>
          <a:prstGeom prst="rect">
            <a:avLst/>
          </a:prstGeom>
          <a:noFill/>
          <a:ln w="0">
            <a:noFill/>
            <a:prstDash val="solid"/>
          </a:ln>
        </p:spPr>
        <p:txBody>
          <a:bodyPr anchor="ctr"/>
          <a:lstStyle/>
          <a:p>
            <a:pPr algn="l">
              <a:defRPr sz="1500" b="1">
                <a:solidFill>
                  <a:srgbClr val="17233B"/>
                </a:solidFill>
              </a:defRPr>
            </a:pPr>
            <a:r>
              <a:rPr sz="1500" b="1">
                <a:solidFill>
                  <a:srgbClr val="17233B"/>
                </a:solidFill>
              </a:rPr>
              <a:t>Gắn lịch sale &amp; trạng thái căn</a:t>
            </a:r>
          </a:p>
        </p:txBody>
      </p:sp>
      <p:sp>
        <p:nvSpPr>
          <p:cNvPr id="14" name="Rectangle 13">
            <a:extLst>
              <a:ext uri="{FF2B5EF4-FFF2-40B4-BE49-F238E27FC236}">
                <a16:creationId xmlns:a16="http://schemas.microsoft.com/office/drawing/2014/main" id="{B3F55926-9312-4814-936B-1276A3BFA33D}"/>
              </a:ext>
            </a:extLst>
          </p:cNvPr>
          <p:cNvSpPr>
            <a:spLocks noGrp="1"/>
          </p:cNvSpPr>
          <p:nvPr/>
        </p:nvSpPr>
        <p:spPr>
          <a:xfrm>
            <a:off x="1162050" y="4010025"/>
            <a:ext cx="3714750" cy="247650"/>
          </a:xfrm>
          <a:prstGeom prst="rect">
            <a:avLst/>
          </a:prstGeom>
          <a:noFill/>
          <a:ln w="0">
            <a:noFill/>
            <a:prstDash val="solid"/>
          </a:ln>
        </p:spPr>
        <p:txBody>
          <a:bodyPr anchor="ctr"/>
          <a:lstStyle/>
          <a:p>
            <a:pPr algn="l">
              <a:defRPr sz="1200" b="0">
                <a:solidFill>
                  <a:srgbClr val="64748B"/>
                </a:solidFill>
              </a:defRPr>
            </a:pPr>
            <a:r>
              <a:rPr sz="1200" b="0">
                <a:solidFill>
                  <a:srgbClr val="64748B"/>
                </a:solidFill>
              </a:rPr>
              <a:t>để kiểm tra trước khi đặt</a:t>
            </a:r>
          </a:p>
        </p:txBody>
      </p:sp>
      <p:sp>
        <p:nvSpPr>
          <p:cNvPr id="15" name="Rectangle 14">
            <a:extLst>
              <a:ext uri="{FF2B5EF4-FFF2-40B4-BE49-F238E27FC236}">
                <a16:creationId xmlns:a16="http://schemas.microsoft.com/office/drawing/2014/main" id="{6100A709-ED37-4BAF-AEE1-E6D7803B2FE8}"/>
              </a:ext>
            </a:extLst>
          </p:cNvPr>
          <p:cNvSpPr>
            <a:spLocks noGrp="1"/>
          </p:cNvSpPr>
          <p:nvPr/>
        </p:nvSpPr>
        <p:spPr>
          <a:xfrm>
            <a:off x="609600" y="4476750"/>
            <a:ext cx="428625" cy="381000"/>
          </a:xfrm>
          <a:prstGeom prst="rect">
            <a:avLst/>
          </a:prstGeom>
          <a:noFill/>
          <a:ln w="0">
            <a:noFill/>
            <a:prstDash val="solid"/>
          </a:ln>
        </p:spPr>
        <p:txBody>
          <a:bodyPr anchor="ctr"/>
          <a:lstStyle/>
          <a:p>
            <a:pPr algn="ctr">
              <a:defRPr sz="1350" b="1">
                <a:solidFill>
                  <a:srgbClr val="F39A19"/>
                </a:solidFill>
              </a:defRPr>
            </a:pPr>
            <a:r>
              <a:rPr sz="1350" b="1">
                <a:solidFill>
                  <a:srgbClr val="F39A19"/>
                </a:solidFill>
              </a:rPr>
              <a:t>04</a:t>
            </a:r>
          </a:p>
        </p:txBody>
      </p:sp>
      <p:sp>
        <p:nvSpPr>
          <p:cNvPr id="16" name="Rectangle 15">
            <a:extLst>
              <a:ext uri="{FF2B5EF4-FFF2-40B4-BE49-F238E27FC236}">
                <a16:creationId xmlns:a16="http://schemas.microsoft.com/office/drawing/2014/main" id="{C00B9EF7-762B-4A79-9624-31F551EACA7C}"/>
              </a:ext>
            </a:extLst>
          </p:cNvPr>
          <p:cNvSpPr>
            <a:spLocks noGrp="1"/>
          </p:cNvSpPr>
          <p:nvPr/>
        </p:nvSpPr>
        <p:spPr>
          <a:xfrm>
            <a:off x="1162050" y="4448175"/>
            <a:ext cx="3714750" cy="257175"/>
          </a:xfrm>
          <a:prstGeom prst="rect">
            <a:avLst/>
          </a:prstGeom>
          <a:noFill/>
          <a:ln w="0">
            <a:noFill/>
            <a:prstDash val="solid"/>
          </a:ln>
        </p:spPr>
        <p:txBody>
          <a:bodyPr anchor="ctr"/>
          <a:lstStyle/>
          <a:p>
            <a:pPr algn="l">
              <a:defRPr sz="1500" b="1">
                <a:solidFill>
                  <a:srgbClr val="17233B"/>
                </a:solidFill>
              </a:defRPr>
            </a:pPr>
            <a:r>
              <a:rPr sz="1500" b="1">
                <a:solidFill>
                  <a:srgbClr val="17233B"/>
                </a:solidFill>
              </a:rPr>
              <a:t>Test luồng hỏi lại</a:t>
            </a:r>
          </a:p>
        </p:txBody>
      </p:sp>
      <p:sp>
        <p:nvSpPr>
          <p:cNvPr id="17" name="Rectangle 16">
            <a:extLst>
              <a:ext uri="{FF2B5EF4-FFF2-40B4-BE49-F238E27FC236}">
                <a16:creationId xmlns:a16="http://schemas.microsoft.com/office/drawing/2014/main" id="{0961B9F7-EE7D-4FE0-A3F3-AEF25A039FB5}"/>
              </a:ext>
            </a:extLst>
          </p:cNvPr>
          <p:cNvSpPr>
            <a:spLocks noGrp="1"/>
          </p:cNvSpPr>
          <p:nvPr/>
        </p:nvSpPr>
        <p:spPr>
          <a:xfrm>
            <a:off x="1162050" y="4714875"/>
            <a:ext cx="3714750" cy="247650"/>
          </a:xfrm>
          <a:prstGeom prst="rect">
            <a:avLst/>
          </a:prstGeom>
          <a:noFill/>
          <a:ln w="0">
            <a:noFill/>
            <a:prstDash val="solid"/>
          </a:ln>
        </p:spPr>
        <p:txBody>
          <a:bodyPr anchor="ctr"/>
          <a:lstStyle/>
          <a:p>
            <a:pPr algn="l">
              <a:defRPr sz="1200" b="0">
                <a:solidFill>
                  <a:srgbClr val="64748B"/>
                </a:solidFill>
              </a:defRPr>
            </a:pPr>
            <a:r>
              <a:rPr sz="1200" b="0">
                <a:solidFill>
                  <a:srgbClr val="64748B"/>
                </a:solidFill>
              </a:rPr>
              <a:t>AI thiếu gì thì hỏi đúng cái đó</a:t>
            </a:r>
          </a:p>
        </p:txBody>
      </p:sp>
      <p:sp>
        <p:nvSpPr>
          <p:cNvPr id="18" name="Rectangle: Rounded Corners 17">
            <a:extLst>
              <a:ext uri="{FF2B5EF4-FFF2-40B4-BE49-F238E27FC236}">
                <a16:creationId xmlns:a16="http://schemas.microsoft.com/office/drawing/2014/main" id="{3DBBD583-1FF1-44BD-9EB7-7BC72CFE22AF}"/>
              </a:ext>
            </a:extLst>
          </p:cNvPr>
          <p:cNvSpPr>
            <a:spLocks noGrp="1"/>
          </p:cNvSpPr>
          <p:nvPr/>
        </p:nvSpPr>
        <p:spPr>
          <a:xfrm>
            <a:off x="5248275" y="1790700"/>
            <a:ext cx="6400800" cy="3514725"/>
          </a:xfrm>
          <a:prstGeom prst="roundRect">
            <a:avLst>
              <a:gd name="adj" fmla="val 3252"/>
            </a:avLst>
          </a:prstGeom>
          <a:solidFill>
            <a:srgbClr val="FFFFFF"/>
          </a:solidFill>
          <a:ln w="9525">
            <a:solidFill>
              <a:srgbClr val="D9E2F0"/>
            </a:solidFill>
            <a:prstDash val="solid"/>
          </a:ln>
        </p:spPr>
        <p:txBody>
          <a:bodyPr/>
          <a:lstStyle/>
          <a:p>
            <a:endParaRPr lang="en-US"/>
          </a:p>
        </p:txBody>
      </p:sp>
      <p:pic>
        <p:nvPicPr>
          <p:cNvPr id="45" name="Picture 44"/>
          <p:cNvPicPr>
            <a:picLocks noChangeAspect="1"/>
          </p:cNvPicPr>
          <p:nvPr/>
        </p:nvPicPr>
        <p:blipFill>
          <a:blip r:embed="rId3"/>
          <a:stretch/>
        </p:blipFill>
        <p:spPr>
          <a:xfrm>
            <a:off x="6059277" y="1857375"/>
            <a:ext cx="4778796" cy="3381375"/>
          </a:xfrm>
          <a:prstGeom prst="rect">
            <a:avLst/>
          </a:prstGeom>
        </p:spPr>
      </p:pic>
      <p:sp>
        <p:nvSpPr>
          <p:cNvPr id="20" name="Rectangle: Rounded Corners 19">
            <a:extLst>
              <a:ext uri="{FF2B5EF4-FFF2-40B4-BE49-F238E27FC236}">
                <a16:creationId xmlns:a16="http://schemas.microsoft.com/office/drawing/2014/main" id="{30DF9918-C917-4163-BF5C-D6A5245B2D02}"/>
              </a:ext>
            </a:extLst>
          </p:cNvPr>
          <p:cNvSpPr>
            <a:spLocks noGrp="1"/>
          </p:cNvSpPr>
          <p:nvPr/>
        </p:nvSpPr>
        <p:spPr>
          <a:xfrm>
            <a:off x="5314950" y="5438775"/>
            <a:ext cx="6267450" cy="723900"/>
          </a:xfrm>
          <a:prstGeom prst="roundRect">
            <a:avLst>
              <a:gd name="adj" fmla="val 15789"/>
            </a:avLst>
          </a:prstGeom>
          <a:solidFill>
            <a:srgbClr val="102A5E"/>
          </a:solidFill>
          <a:ln w="9525">
            <a:solidFill>
              <a:srgbClr val="102A5E"/>
            </a:solidFill>
            <a:prstDash val="solid"/>
          </a:ln>
        </p:spPr>
        <p:txBody>
          <a:bodyPr/>
          <a:lstStyle/>
          <a:p>
            <a:endParaRPr lang="en-US"/>
          </a:p>
        </p:txBody>
      </p:sp>
      <p:sp>
        <p:nvSpPr>
          <p:cNvPr id="21" name="Rectangle 20">
            <a:extLst>
              <a:ext uri="{FF2B5EF4-FFF2-40B4-BE49-F238E27FC236}">
                <a16:creationId xmlns:a16="http://schemas.microsoft.com/office/drawing/2014/main" id="{6B095919-8C3C-4CB2-A9C6-FCC80DEEB311}"/>
              </a:ext>
            </a:extLst>
          </p:cNvPr>
          <p:cNvSpPr>
            <a:spLocks noGrp="1"/>
          </p:cNvSpPr>
          <p:nvPr/>
        </p:nvSpPr>
        <p:spPr>
          <a:xfrm>
            <a:off x="5543550" y="5514975"/>
            <a:ext cx="1952625" cy="209550"/>
          </a:xfrm>
          <a:prstGeom prst="rect">
            <a:avLst/>
          </a:prstGeom>
          <a:noFill/>
          <a:ln w="0">
            <a:noFill/>
            <a:prstDash val="solid"/>
          </a:ln>
        </p:spPr>
        <p:txBody>
          <a:bodyPr anchor="ctr"/>
          <a:lstStyle/>
          <a:p>
            <a:pPr algn="l">
              <a:defRPr sz="1050" b="1">
                <a:solidFill>
                  <a:srgbClr val="A9C7F5"/>
                </a:solidFill>
              </a:defRPr>
            </a:pPr>
            <a:r>
              <a:rPr sz="1050" b="1">
                <a:solidFill>
                  <a:srgbClr val="A9C7F5"/>
                </a:solidFill>
              </a:rPr>
              <a:t>MỤC TIÊU GẦN NHẤT</a:t>
            </a:r>
          </a:p>
        </p:txBody>
      </p:sp>
      <p:sp>
        <p:nvSpPr>
          <p:cNvPr id="22" name="Rectangle 21">
            <a:extLst>
              <a:ext uri="{FF2B5EF4-FFF2-40B4-BE49-F238E27FC236}">
                <a16:creationId xmlns:a16="http://schemas.microsoft.com/office/drawing/2014/main" id="{B193CC64-9E91-41AA-A0CF-FF2B6E1021AD}"/>
              </a:ext>
            </a:extLst>
          </p:cNvPr>
          <p:cNvSpPr>
            <a:spLocks noGrp="1"/>
          </p:cNvSpPr>
          <p:nvPr/>
        </p:nvSpPr>
        <p:spPr>
          <a:xfrm>
            <a:off x="5543550" y="5724525"/>
            <a:ext cx="5810250" cy="323850"/>
          </a:xfrm>
          <a:prstGeom prst="rect">
            <a:avLst/>
          </a:prstGeom>
          <a:noFill/>
          <a:ln w="0">
            <a:noFill/>
            <a:prstDash val="solid"/>
          </a:ln>
        </p:spPr>
        <p:txBody>
          <a:bodyPr anchor="ctr"/>
          <a:lstStyle/>
          <a:p>
            <a:pPr algn="l">
              <a:defRPr sz="1500" b="1">
                <a:solidFill>
                  <a:srgbClr val="FFFFFF"/>
                </a:solidFill>
              </a:defRPr>
            </a:pPr>
            <a:r>
              <a:rPr sz="1500" b="1">
                <a:solidFill>
                  <a:srgbClr val="FFFFFF"/>
                </a:solidFill>
              </a:rPr>
              <a:t>Chạy trọn luồng: nhu cầu → gợi ý → sale duyệt → lịch hẹn</a:t>
            </a:r>
          </a:p>
        </p:txBody>
      </p:sp>
      <p:sp>
        <p:nvSpPr>
          <p:cNvPr id="23" name="Rectangle: Rounded Corners 22">
            <a:extLst>
              <a:ext uri="{FF2B5EF4-FFF2-40B4-BE49-F238E27FC236}">
                <a16:creationId xmlns:a16="http://schemas.microsoft.com/office/drawing/2014/main" id="{DEF5B342-102A-4645-9E40-18F097F5F5E8}"/>
              </a:ext>
            </a:extLst>
          </p:cNvPr>
          <p:cNvSpPr>
            <a:spLocks noGrp="1"/>
          </p:cNvSpPr>
          <p:nvPr/>
        </p:nvSpPr>
        <p:spPr>
          <a:xfrm>
            <a:off x="609600" y="5467350"/>
            <a:ext cx="4267200" cy="695325"/>
          </a:xfrm>
          <a:prstGeom prst="roundRect">
            <a:avLst>
              <a:gd name="adj" fmla="val 16438"/>
            </a:avLst>
          </a:prstGeom>
          <a:solidFill>
            <a:srgbClr val="FFF4E4"/>
          </a:solidFill>
          <a:ln w="9525">
            <a:solidFill>
              <a:srgbClr val="F39A19"/>
            </a:solidFill>
            <a:prstDash val="solid"/>
          </a:ln>
        </p:spPr>
        <p:txBody>
          <a:bodyPr/>
          <a:lstStyle/>
          <a:p>
            <a:endParaRPr lang="en-US"/>
          </a:p>
        </p:txBody>
      </p:sp>
      <p:sp>
        <p:nvSpPr>
          <p:cNvPr id="24" name="Rectangle 23">
            <a:extLst>
              <a:ext uri="{FF2B5EF4-FFF2-40B4-BE49-F238E27FC236}">
                <a16:creationId xmlns:a16="http://schemas.microsoft.com/office/drawing/2014/main" id="{92840510-91EB-4010-962C-D2817D7B1EA9}"/>
              </a:ext>
            </a:extLst>
          </p:cNvPr>
          <p:cNvSpPr>
            <a:spLocks noGrp="1"/>
          </p:cNvSpPr>
          <p:nvPr/>
        </p:nvSpPr>
        <p:spPr>
          <a:xfrm>
            <a:off x="781050" y="5600700"/>
            <a:ext cx="3924300" cy="419100"/>
          </a:xfrm>
          <a:prstGeom prst="rect">
            <a:avLst/>
          </a:prstGeom>
          <a:noFill/>
          <a:ln w="0">
            <a:noFill/>
            <a:prstDash val="solid"/>
          </a:ln>
        </p:spPr>
        <p:txBody>
          <a:bodyPr anchor="ctr"/>
          <a:lstStyle/>
          <a:p>
            <a:pPr algn="ctr">
              <a:defRPr sz="1425" b="1">
                <a:solidFill>
                  <a:srgbClr val="F39A19"/>
                </a:solidFill>
              </a:defRPr>
            </a:pPr>
            <a:r>
              <a:rPr sz="1425" b="1">
                <a:solidFill>
                  <a:srgbClr val="F39A19"/>
                </a:solidFill>
              </a:rPr>
              <a:t>Thiếu dữ liệu thì hỏi thêm — tuyệt đối không tự bịa.</a:t>
            </a:r>
          </a:p>
        </p:txBody>
      </p:sp>
      <p:sp>
        <p:nvSpPr>
          <p:cNvPr id="25" name="Rectangle 24">
            <a:extLst>
              <a:ext uri="{FF2B5EF4-FFF2-40B4-BE49-F238E27FC236}">
                <a16:creationId xmlns:a16="http://schemas.microsoft.com/office/drawing/2014/main" id="{0FEE249B-B4EA-453F-B034-659DF4200361}"/>
              </a:ext>
            </a:extLst>
          </p:cNvPr>
          <p:cNvSpPr>
            <a:spLocks noGrp="1"/>
          </p:cNvSpPr>
          <p:nvPr/>
        </p:nvSpPr>
        <p:spPr>
          <a:xfrm>
            <a:off x="609600" y="6486525"/>
            <a:ext cx="3143250" cy="190500"/>
          </a:xfrm>
          <a:prstGeom prst="rect">
            <a:avLst/>
          </a:prstGeom>
          <a:noFill/>
          <a:ln w="0">
            <a:noFill/>
            <a:prstDash val="solid"/>
          </a:ln>
        </p:spPr>
        <p:txBody>
          <a:bodyPr anchor="ctr"/>
          <a:lstStyle/>
          <a:p>
            <a:pPr algn="l">
              <a:defRPr sz="900" b="1">
                <a:solidFill>
                  <a:srgbClr val="64748B"/>
                </a:solidFill>
              </a:defRPr>
            </a:pPr>
            <a:r>
              <a:rPr sz="900" b="1">
                <a:solidFill>
                  <a:srgbClr val="64748B"/>
                </a:solidFill>
              </a:rPr>
              <a:t>XHOME  •  MENTOR DUTY #2</a:t>
            </a:r>
          </a:p>
        </p:txBody>
      </p:sp>
      <p:sp>
        <p:nvSpPr>
          <p:cNvPr id="26" name="Rectangle 25">
            <a:extLst>
              <a:ext uri="{FF2B5EF4-FFF2-40B4-BE49-F238E27FC236}">
                <a16:creationId xmlns:a16="http://schemas.microsoft.com/office/drawing/2014/main" id="{B7AD8812-5F30-4C62-AFCF-9BD8C74F7757}"/>
              </a:ext>
            </a:extLst>
          </p:cNvPr>
          <p:cNvSpPr>
            <a:spLocks noGrp="1"/>
          </p:cNvSpPr>
          <p:nvPr/>
        </p:nvSpPr>
        <p:spPr>
          <a:xfrm>
            <a:off x="11068050" y="6486525"/>
            <a:ext cx="514350" cy="190500"/>
          </a:xfrm>
          <a:prstGeom prst="rect">
            <a:avLst/>
          </a:prstGeom>
          <a:noFill/>
          <a:ln w="0">
            <a:noFill/>
            <a:prstDash val="solid"/>
          </a:ln>
        </p:spPr>
        <p:txBody>
          <a:bodyPr anchor="ctr"/>
          <a:lstStyle/>
          <a:p>
            <a:pPr algn="r">
              <a:defRPr sz="900" b="1">
                <a:solidFill>
                  <a:srgbClr val="64748B"/>
                </a:solidFill>
              </a:defRPr>
            </a:pPr>
            <a:r>
              <a:rPr sz="900" b="1">
                <a:solidFill>
                  <a:srgbClr val="64748B"/>
                </a:solidFill>
              </a:rPr>
              <a:t>05</a:t>
            </a:r>
          </a:p>
        </p:txBody>
      </p:sp>
    </p:spTree>
    <p:extLst>
      <p:ext uri="{BB962C8B-B14F-4D97-AF65-F5344CB8AC3E}">
        <p14:creationId xmlns:p14="http://schemas.microsoft.com/office/powerpoint/2010/main" val="148329823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961</Words>
  <Application>Microsoft Office PowerPoint</Application>
  <DocSecurity>0</DocSecurity>
  <PresentationFormat>Widescreen</PresentationFormat>
  <Paragraphs>85</Paragraphs>
  <Slides>5</Slides>
  <Notes>5</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5</vt:i4>
      </vt:variant>
    </vt:vector>
  </HeadingPairs>
  <TitlesOfParts>
    <vt:vector size="7" baseType="lpstr">
      <vt:lpstr>Calibri</vt:lpstr>
      <vt:lpstr>ChatGPT</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PHAM TRUNG  KIEN D22CN11</cp:lastModifiedBy>
  <cp:revision>1</cp:revision>
  <dcterms:created xsi:type="dcterms:W3CDTF">2026-08-01T13:46:39Z</dcterms:created>
  <dcterms:modified xsi:type="dcterms:W3CDTF">2026-08-01T14:18:30Z</dcterms:modified>
</cp:coreProperties>
</file>