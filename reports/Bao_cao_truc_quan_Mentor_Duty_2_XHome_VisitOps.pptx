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50dcf2a8e24a4f" /><Relationship Type="http://schemas.openxmlformats.org/officeDocument/2006/relationships/extended-properties" Target="/docProps/app.xml" Id="R903a047934d14a07" /><Relationship Type="http://schemas.openxmlformats.org/officeDocument/2006/relationships/officeDocument" Target="/ppt/presentation.xml" Id="R5b3297d521d140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6d7c549c084496"/>
  </p:sldMasterIdLst>
  <p:notesMasterIdLst>
    <p:notesMasterId xmlns:r="http://schemas.openxmlformats.org/officeDocument/2006/relationships" r:id="R3f5112866a2e4da1"/>
  </p:notesMasterIdLst>
  <p:sldIdLst>
    <p:sldId xmlns:r="http://schemas.openxmlformats.org/officeDocument/2006/relationships" id="256" r:id="R0044a63ee5a342e4"/>
    <p:sldId xmlns:r="http://schemas.openxmlformats.org/officeDocument/2006/relationships" id="257" r:id="Rf942b2d537f04fdc"/>
    <p:sldId xmlns:r="http://schemas.openxmlformats.org/officeDocument/2006/relationships" id="258" r:id="R97c43dd988b14d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3696401312405a" /><Relationship Type="http://schemas.openxmlformats.org/officeDocument/2006/relationships/slideMaster" Target="/ppt/slideMasters/slideMaster1.xml" Id="R186d7c549c084496" /><Relationship Type="http://schemas.openxmlformats.org/officeDocument/2006/relationships/notesMaster" Target="/ppt/notesMasters/notesMaster1.xml" Id="R3f5112866a2e4da1" /><Relationship Type="http://schemas.openxmlformats.org/officeDocument/2006/relationships/presProps" Target="/ppt/presProps.xml" Id="Reae61068170e4508" /><Relationship Type="http://schemas.openxmlformats.org/officeDocument/2006/relationships/tableStyles" Target="/ppt/tableStyles.xml" Id="Ra9e5d01ddcae46e5" /><Relationship Type="http://schemas.openxmlformats.org/officeDocument/2006/relationships/slide" Target="/ppt/slides/slide1.xml" Id="R0044a63ee5a342e4" /><Relationship Type="http://schemas.openxmlformats.org/officeDocument/2006/relationships/slide" Target="/ppt/slides/slide2.xml" Id="Rf942b2d537f04fdc" /><Relationship Type="http://schemas.openxmlformats.org/officeDocument/2006/relationships/slide" Target="/ppt/slides/slide3.xml" Id="R97c43dd988b14d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8b7430c14e41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193b548e47485a" /><Relationship Type="http://schemas.openxmlformats.org/officeDocument/2006/relationships/notesMaster" Target="/ppt/notesMasters/notesMaster1.xml" Id="R1f7ad9b98bb14c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41ee1354de4bf7" /><Relationship Type="http://schemas.openxmlformats.org/officeDocument/2006/relationships/notesMaster" Target="/ppt/notesMasters/notesMaster1.xml" Id="R2f868757ce1142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d6e484f5d74b51" /><Relationship Type="http://schemas.openxmlformats.org/officeDocument/2006/relationships/notesMaster" Target="/ppt/notesMasters/notesMaster1.xml" Id="Re56907d8fd9d4d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repository P-046, inspected 2026-08-01.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database/001_schema.sql and docs/database-design.md, inspected 2026-08-01.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sprint proposal derived from the current P-046 repository state, 2026-08-01.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a5fd614964a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9f227e75764a72" /><Relationship Type="http://schemas.openxmlformats.org/officeDocument/2006/relationships/slideLayout" Target="/ppt/slideLayouts/slideLayout1.xml" Id="R17accc4823a449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accc4823a449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78ea36ac74c32" /><Relationship Type="http://schemas.openxmlformats.org/officeDocument/2006/relationships/notesSlide" Target="/ppt/notesSlides/notesSlide1.xml" Id="Rd581fc81686648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caf979da44e6f" /><Relationship Type="http://schemas.openxmlformats.org/officeDocument/2006/relationships/notesSlide" Target="/ppt/notesSlides/notesSlide2.xml" Id="R34a31cb496cd45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88313f0624993" /><Relationship Type="http://schemas.openxmlformats.org/officeDocument/2006/relationships/notesSlide" Target="/ppt/notesSlides/notesSlide3.xml" Id="R80dfa09c497541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1-index">
            <a:extLst xmlns:a="http://schemas.openxmlformats.org/drawingml/2006/main">
              <a:ext uri="{FF2B5EF4-FFF2-40B4-BE49-F238E27FC236}">
                <a16:creationId xmlns:a16="http://schemas.microsoft.com/office/drawing/2014/main" id="{42C70EEF-1FE8-4F04-B579-5F71F79B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</a:defRPr>
            </a:pPr>
            <a:r>
              <a:rPr sz="1275" b="1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2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A8DA7259-1478-4560-8CA5-18288A92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</a:defRPr>
            </a:pPr>
            <a:r>
              <a:rPr sz="2925" b="1">
                <a:solidFill>
                  <a:srgbClr val="F8FAFC"/>
                </a:solidFill>
              </a:rPr>
              <a:t>Nền dữ liệu đã sẵn sàng — app đang khởi động</a:t>
            </a:r>
          </a:p>
        </p:txBody>
      </p:sp>
      <p:sp>
        <p:nvSpPr>
          <p:cNvPr id="3" name="slide-1-project">
            <a:extLst xmlns:a="http://schemas.openxmlformats.org/drawingml/2006/main">
              <a:ext uri="{FF2B5EF4-FFF2-40B4-BE49-F238E27FC236}">
                <a16:creationId xmlns:a16="http://schemas.microsoft.com/office/drawing/2014/main" id="{46C54184-51A1-4ADB-B8AE-56BB43D0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524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4A3B8"/>
                </a:solidFill>
              </a:defRPr>
            </a:pPr>
            <a:r>
              <a:rPr sz="1125" b="1">
                <a:solidFill>
                  <a:srgbClr val="94A3B8"/>
                </a:solidFill>
              </a:rPr>
              <a:t>P-046 · XHOME VISITOPS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16826-D0DF-4CFE-BE19-C3CCB6F8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1EBAC-D2AC-4A39-A50B-36920831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D4BF"/>
                </a:solidFill>
              </a:defRPr>
            </a:pPr>
            <a:r>
              <a:rPr sz="1350" b="1">
                <a:solidFill>
                  <a:srgbClr val="2DD4BF"/>
                </a:solidFill>
              </a:rPr>
              <a:t>ĐÃ XONG</a:t>
            </a:r>
          </a:p>
        </p:txBody>
      </p:sp>
      <p:sp>
        <p:nvSpPr>
          <p:cNvPr id="6" name="ĐÃ XONG-arrow-0">
            <a:extLst xmlns:a="http://schemas.openxmlformats.org/drawingml/2006/main">
              <a:ext uri="{FF2B5EF4-FFF2-40B4-BE49-F238E27FC236}">
                <a16:creationId xmlns:a16="http://schemas.microsoft.com/office/drawing/2014/main" id="{F3A81182-EF14-4913-A040-73B5C3BA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43125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7" name="ĐÃ XONG-arrow-1">
            <a:extLst xmlns:a="http://schemas.openxmlformats.org/drawingml/2006/main">
              <a:ext uri="{FF2B5EF4-FFF2-40B4-BE49-F238E27FC236}">
                <a16:creationId xmlns:a16="http://schemas.microsoft.com/office/drawing/2014/main" id="{352C9B16-E8EE-4F0A-B4DD-A402AD08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43125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8" name="ĐÃ XONG-node-0">
            <a:extLst xmlns:a="http://schemas.openxmlformats.org/drawingml/2006/main">
              <a:ext uri="{FF2B5EF4-FFF2-40B4-BE49-F238E27FC236}">
                <a16:creationId xmlns:a16="http://schemas.microsoft.com/office/drawing/2014/main" id="{66BC995F-0636-48F0-A381-B9218C9C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143125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Bài toán</a:t>
            </a:r>
          </a:p>
        </p:txBody>
      </p:sp>
      <p:sp>
        <p:nvSpPr>
          <p:cNvPr id="9" name="ĐÃ XONG-node-1">
            <a:extLst xmlns:a="http://schemas.openxmlformats.org/drawingml/2006/main">
              <a:ext uri="{FF2B5EF4-FFF2-40B4-BE49-F238E27FC236}">
                <a16:creationId xmlns:a16="http://schemas.microsoft.com/office/drawing/2014/main" id="{7F948B80-63FB-4C6E-85CB-C5C7FE85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952625"/>
            <a:ext cx="2143125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Schema · 24 bảng</a:t>
            </a:r>
          </a:p>
        </p:txBody>
      </p:sp>
      <p:sp>
        <p:nvSpPr>
          <p:cNvPr id="10" name="ĐÃ XONG-node-2">
            <a:extLst xmlns:a="http://schemas.openxmlformats.org/drawingml/2006/main">
              <a:ext uri="{FF2B5EF4-FFF2-40B4-BE49-F238E27FC236}">
                <a16:creationId xmlns:a16="http://schemas.microsoft.com/office/drawing/2014/main" id="{F2FD4724-8A99-477E-B453-C873ED69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2143125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Neon + ERD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AF685-C95F-4D18-90F2-2DAADFE6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04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</a:defRPr>
            </a:pPr>
            <a:r>
              <a:rPr sz="1350" b="1">
                <a:solidFill>
                  <a:srgbClr val="FBBF24"/>
                </a:solidFill>
              </a:rPr>
              <a:t>ĐANG LÀM</a:t>
            </a:r>
          </a:p>
        </p:txBody>
      </p:sp>
      <p:sp>
        <p:nvSpPr>
          <p:cNvPr id="12" name="ĐANG LÀM-arrow-0">
            <a:extLst xmlns:a="http://schemas.openxmlformats.org/drawingml/2006/main">
              <a:ext uri="{FF2B5EF4-FFF2-40B4-BE49-F238E27FC236}">
                <a16:creationId xmlns:a16="http://schemas.microsoft.com/office/drawing/2014/main" id="{113BF2D8-04D7-4C7C-8B72-B93BD37D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3" name="ĐANG LÀM-node-0">
            <a:extLst xmlns:a="http://schemas.openxmlformats.org/drawingml/2006/main">
              <a:ext uri="{FF2B5EF4-FFF2-40B4-BE49-F238E27FC236}">
                <a16:creationId xmlns:a16="http://schemas.microsoft.com/office/drawing/2014/main" id="{876EB57A-9CED-41E6-9F83-C1FA2622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0"/>
            <a:ext cx="2143125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FastAPI nghiệp vụ</a:t>
            </a:r>
          </a:p>
        </p:txBody>
      </p:sp>
      <p:sp>
        <p:nvSpPr>
          <p:cNvPr id="14" name="ĐANG LÀM-node-1">
            <a:extLst xmlns:a="http://schemas.openxmlformats.org/drawingml/2006/main">
              <a:ext uri="{FF2B5EF4-FFF2-40B4-BE49-F238E27FC236}">
                <a16:creationId xmlns:a16="http://schemas.microsoft.com/office/drawing/2014/main" id="{88B7DD8D-3506-4839-9267-40403311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38500"/>
            <a:ext cx="2143125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Agent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3C17E-C7AD-4EE5-BD4E-E6FF8A03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A3B8"/>
                </a:solidFill>
              </a:defRPr>
            </a:pPr>
            <a:r>
              <a:rPr sz="1350" b="1">
                <a:solidFill>
                  <a:srgbClr val="94A3B8"/>
                </a:solidFill>
              </a:rPr>
              <a:t>TIẾP THEO</a:t>
            </a:r>
          </a:p>
        </p:txBody>
      </p:sp>
      <p:sp>
        <p:nvSpPr>
          <p:cNvPr id="16" name="TIẾP THEO-arrow-0">
            <a:extLst xmlns:a="http://schemas.openxmlformats.org/drawingml/2006/main">
              <a:ext uri="{FF2B5EF4-FFF2-40B4-BE49-F238E27FC236}">
                <a16:creationId xmlns:a16="http://schemas.microsoft.com/office/drawing/2014/main" id="{91DF3641-5B62-4D4F-AF13-FA4E023A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14875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7" name="TIẾP THEO-arrow-1">
            <a:extLst xmlns:a="http://schemas.openxmlformats.org/drawingml/2006/main">
              <a:ext uri="{FF2B5EF4-FFF2-40B4-BE49-F238E27FC236}">
                <a16:creationId xmlns:a16="http://schemas.microsoft.com/office/drawing/2014/main" id="{5AC9C0A0-4CA5-4575-AA80-1FC0438E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2667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8" name="TIẾP THEO-node-0">
            <a:extLst xmlns:a="http://schemas.openxmlformats.org/drawingml/2006/main">
              <a:ext uri="{FF2B5EF4-FFF2-40B4-BE49-F238E27FC236}">
                <a16:creationId xmlns:a16="http://schemas.microsoft.com/office/drawing/2014/main" id="{FC7C59FE-5563-4C06-B8A1-EEC9056B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2143125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Next.js</a:t>
            </a:r>
          </a:p>
        </p:txBody>
      </p:sp>
      <p:sp>
        <p:nvSpPr>
          <p:cNvPr id="19" name="TIẾP THEO-node-1">
            <a:extLst xmlns:a="http://schemas.openxmlformats.org/drawingml/2006/main">
              <a:ext uri="{FF2B5EF4-FFF2-40B4-BE49-F238E27FC236}">
                <a16:creationId xmlns:a16="http://schemas.microsoft.com/office/drawing/2014/main" id="{8BA04E59-486A-4237-B37C-3306C855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24375"/>
            <a:ext cx="2143125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Auth</a:t>
            </a:r>
          </a:p>
        </p:txBody>
      </p:sp>
      <p:sp>
        <p:nvSpPr>
          <p:cNvPr id="20" name="TIẾP THEO-node-2">
            <a:extLst xmlns:a="http://schemas.openxmlformats.org/drawingml/2006/main">
              <a:ext uri="{FF2B5EF4-FFF2-40B4-BE49-F238E27FC236}">
                <a16:creationId xmlns:a16="http://schemas.microsoft.com/office/drawing/2014/main" id="{B0C0E132-EEE1-4091-AAA5-A48F7137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24375"/>
            <a:ext cx="2143125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94A3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Live deploy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BB819-2CD1-455A-B600-89E5BD0E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861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BBF24"/>
                </a:solidFill>
              </a:defRPr>
            </a:pPr>
            <a:r>
              <a:rPr sz="1275" b="1">
                <a:solidFill>
                  <a:srgbClr val="FBBF24"/>
                </a:solidFill>
              </a:rPr>
              <a:t>Mốc gần nhất</a:t>
            </a:r>
          </a:p>
        </p:txBody>
      </p:sp>
      <p:sp>
        <p:nvSpPr>
          <p:cNvPr id="22" name="happy-path-milestone">
            <a:extLst xmlns:a="http://schemas.openxmlformats.org/drawingml/2006/main">
              <a:ext uri="{FF2B5EF4-FFF2-40B4-BE49-F238E27FC236}">
                <a16:creationId xmlns:a16="http://schemas.microsoft.com/office/drawing/2014/main" id="{BCFD36F4-B2DF-4B86-A5EB-0831A040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29050"/>
            <a:ext cx="1952625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3A2B0B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HAPPY PATH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END-TO-END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F58F1-C9DF-4C79-BCE8-820BAF83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81550"/>
            <a:ext cx="4191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2968F7-6E5E-4A7A-AD19-900B30A9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chat → duyệt → booking + hold</a:t>
            </a:r>
          </a:p>
        </p:txBody>
      </p:sp>
    </p:spTree>
    <p:extLst>
      <p:ext uri="{BB962C8B-B14F-4D97-AF65-F5344CB8AC3E}">
        <p14:creationId xmlns:p14="http://schemas.microsoft.com/office/powerpoint/2010/main" val="861421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2-index">
            <a:extLst xmlns:a="http://schemas.openxmlformats.org/drawingml/2006/main">
              <a:ext uri="{FF2B5EF4-FFF2-40B4-BE49-F238E27FC236}">
                <a16:creationId xmlns:a16="http://schemas.microsoft.com/office/drawing/2014/main" id="{633CE552-0400-40FB-83E9-5276378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</a:defRPr>
            </a:pPr>
            <a:r>
              <a:rPr sz="1275" b="1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3C0C85D-E904-442D-AA12-30B63B28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</a:defRPr>
            </a:pPr>
            <a:r>
              <a:rPr sz="2925" b="1">
                <a:solidFill>
                  <a:srgbClr val="F8FAFC"/>
                </a:solidFill>
              </a:rPr>
              <a:t>MVP: 5 lớp + 1 điểm duyệt</a:t>
            </a:r>
          </a:p>
        </p:txBody>
      </p:sp>
      <p:sp>
        <p:nvSpPr>
          <p:cNvPr id="3" name="slide-2-project">
            <a:extLst xmlns:a="http://schemas.openxmlformats.org/drawingml/2006/main">
              <a:ext uri="{FF2B5EF4-FFF2-40B4-BE49-F238E27FC236}">
                <a16:creationId xmlns:a16="http://schemas.microsoft.com/office/drawing/2014/main" id="{C556F128-96BD-4681-835D-DE3E783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524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4A3B8"/>
                </a:solidFill>
              </a:defRPr>
            </a:pPr>
            <a:r>
              <a:rPr sz="1125" b="1">
                <a:solidFill>
                  <a:srgbClr val="94A3B8"/>
                </a:solidFill>
              </a:rPr>
              <a:t>P-046 · XHOME VISITOPS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A102F-E786-4E94-BC63-A236DCDC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A15DEEA4-30B1-49C0-AEFB-3570131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6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96D2B866-DAA0-4503-AE24-3774EAC1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7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6B238ABF-2B77-49C7-BA58-5DA0FF0A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8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A2946FDB-8AE4-41B9-AE08-2D9E6524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813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29415F"/>
            </a:solidFill>
            <a:prstDash val="solid"/>
          </a:ln>
        </p:spPr>
      </p:sp>
      <p:sp>
        <p:nvSpPr>
          <p:cNvPr id="9" name="architecture-node-0">
            <a:extLst xmlns:a="http://schemas.openxmlformats.org/drawingml/2006/main">
              <a:ext uri="{FF2B5EF4-FFF2-40B4-BE49-F238E27FC236}">
                <a16:creationId xmlns:a16="http://schemas.microsoft.com/office/drawing/2014/main" id="{82913F90-BCCF-40C2-90BF-C3891542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1571625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NEXT.JS</a:t>
            </a:r>
          </a:p>
        </p:txBody>
      </p:sp>
      <p:sp>
        <p:nvSpPr>
          <p:cNvPr id="10" name="architecture-sub-0">
            <a:extLst xmlns:a="http://schemas.openxmlformats.org/drawingml/2006/main">
              <a:ext uri="{FF2B5EF4-FFF2-40B4-BE49-F238E27FC236}">
                <a16:creationId xmlns:a16="http://schemas.microsoft.com/office/drawing/2014/main" id="{D1B1966A-D311-480B-84A1-EE05D82F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290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khách · sale</a:t>
            </a:r>
          </a:p>
        </p:txBody>
      </p:sp>
      <p:sp>
        <p:nvSpPr>
          <p:cNvPr id="11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0F85C598-1E79-4F0A-85ED-15AE55E4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571625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FASTAPI</a:t>
            </a:r>
          </a:p>
        </p:txBody>
      </p:sp>
      <p:sp>
        <p:nvSpPr>
          <p:cNvPr id="12" name="architecture-sub-1">
            <a:extLst xmlns:a="http://schemas.openxmlformats.org/drawingml/2006/main">
              <a:ext uri="{FF2B5EF4-FFF2-40B4-BE49-F238E27FC236}">
                <a16:creationId xmlns:a16="http://schemas.microsoft.com/office/drawing/2014/main" id="{E6B7CE49-24E8-4FBE-A036-4A4D662A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290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API · transaction</a:t>
            </a:r>
          </a:p>
        </p:txBody>
      </p:sp>
      <p:sp>
        <p:nvSpPr>
          <p:cNvPr id="13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495621D4-2C10-417D-B9DC-CEC1A61A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86000"/>
            <a:ext cx="1571625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A78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LANGGRAPH</a:t>
            </a:r>
          </a:p>
        </p:txBody>
      </p:sp>
      <p:sp>
        <p:nvSpPr>
          <p:cNvPr id="14" name="architecture-sub-2">
            <a:extLst xmlns:a="http://schemas.openxmlformats.org/drawingml/2006/main">
              <a:ext uri="{FF2B5EF4-FFF2-40B4-BE49-F238E27FC236}">
                <a16:creationId xmlns:a16="http://schemas.microsoft.com/office/drawing/2014/main" id="{D1C3F4A3-D884-42CA-8294-F981F77E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290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state · routing</a:t>
            </a:r>
          </a:p>
        </p:txBody>
      </p:sp>
      <p:sp>
        <p:nvSpPr>
          <p:cNvPr id="15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B551BDF6-9721-47DD-A4EF-1E1D6BCF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1571625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TOOLS</a:t>
            </a:r>
          </a:p>
        </p:txBody>
      </p:sp>
      <p:sp>
        <p:nvSpPr>
          <p:cNvPr id="16" name="architecture-sub-3">
            <a:extLst xmlns:a="http://schemas.openxmlformats.org/drawingml/2006/main">
              <a:ext uri="{FF2B5EF4-FFF2-40B4-BE49-F238E27FC236}">
                <a16:creationId xmlns:a16="http://schemas.microsoft.com/office/drawing/2014/main" id="{7D3C1399-01BE-46C0-A176-621D2B2C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lịch · căn · hold</a:t>
            </a:r>
          </a:p>
        </p:txBody>
      </p:sp>
      <p:sp>
        <p:nvSpPr>
          <p:cNvPr id="17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03C49624-DC98-40FE-BDEB-99EFA061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1571625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NEON</a:t>
            </a:r>
          </a:p>
        </p:txBody>
      </p:sp>
      <p:sp>
        <p:nvSpPr>
          <p:cNvPr id="18" name="architecture-sub-4">
            <a:extLst xmlns:a="http://schemas.openxmlformats.org/drawingml/2006/main">
              <a:ext uri="{FF2B5EF4-FFF2-40B4-BE49-F238E27FC236}">
                <a16:creationId xmlns:a16="http://schemas.microsoft.com/office/drawing/2014/main" id="{4F1AA26A-FBDF-4AAB-A4C7-BE4C6B95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290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24 bảng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E59A4-7391-47D6-A9FB-96DE1AE8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YÊU CẦU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E2B13-588B-469C-8457-A3A122B6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6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D4BF"/>
                </a:solidFill>
              </a:defRPr>
            </a:pPr>
            <a:r>
              <a:rPr sz="1200" b="1">
                <a:solidFill>
                  <a:srgbClr val="2DD4BF"/>
                </a:solidFill>
              </a:rPr>
              <a:t>APPOINTMENT + HOLD</a:t>
            </a:r>
          </a:p>
        </p:txBody>
      </p:sp>
      <p:sp>
        <p:nvSpPr>
          <p:cNvPr id="21" name="hitl-to-booking-arrow">
            <a:extLst xmlns:a="http://schemas.openxmlformats.org/drawingml/2006/main">
              <a:ext uri="{FF2B5EF4-FFF2-40B4-BE49-F238E27FC236}">
                <a16:creationId xmlns:a16="http://schemas.microsoft.com/office/drawing/2014/main" id="{3B6AA551-AC73-4AD9-B9BA-2F6E4414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67250"/>
            <a:ext cx="8191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22" name="sale-hitl-node">
            <a:extLst xmlns:a="http://schemas.openxmlformats.org/drawingml/2006/main">
              <a:ext uri="{FF2B5EF4-FFF2-40B4-BE49-F238E27FC236}">
                <a16:creationId xmlns:a16="http://schemas.microsoft.com/office/drawing/2014/main" id="{D1B586A2-428F-4048-B5B0-A7425E6A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24375"/>
            <a:ext cx="1809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3A2B0B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SALE DUYỆT</a:t>
            </a:r>
          </a:p>
        </p:txBody>
      </p:sp>
      <p:sp>
        <p:nvSpPr>
          <p:cNvPr id="23" name="booking-node">
            <a:extLst xmlns:a="http://schemas.openxmlformats.org/drawingml/2006/main">
              <a:ext uri="{FF2B5EF4-FFF2-40B4-BE49-F238E27FC236}">
                <a16:creationId xmlns:a16="http://schemas.microsoft.com/office/drawing/2014/main" id="{F1359D54-F51E-4909-9AB6-BB0226B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24375"/>
            <a:ext cx="18097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C302C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BOOKING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7222C-32C3-43E0-8F2C-0A55E92C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362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BBF24"/>
                </a:solidFill>
              </a:defRPr>
            </a:pPr>
            <a:r>
              <a:rPr sz="1275" b="1">
                <a:solidFill>
                  <a:srgbClr val="FBBF24"/>
                </a:solidFill>
              </a:rPr>
              <a:t>HITL bắt buộc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DD926-EDB5-4E64-A4DD-66D97836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62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DD4BF"/>
                </a:solidFill>
              </a:defRPr>
            </a:pPr>
            <a:r>
              <a:rPr sz="1275" b="1">
                <a:solidFill>
                  <a:srgbClr val="2DD4BF"/>
                </a:solidFill>
              </a:rPr>
              <a:t>transaction + lock</a:t>
            </a:r>
          </a:p>
        </p:txBody>
      </p:sp>
      <p:sp>
        <p:nvSpPr>
          <p:cNvPr id="26" name="calendar-optional-node">
            <a:extLst xmlns:a="http://schemas.openxmlformats.org/drawingml/2006/main">
              <a:ext uri="{FF2B5EF4-FFF2-40B4-BE49-F238E27FC236}">
                <a16:creationId xmlns:a16="http://schemas.microsoft.com/office/drawing/2014/main" id="{0B78E970-F52B-4242-805A-0C6C989A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72000"/>
            <a:ext cx="1809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C1D32"/>
          </a:solidFill>
          <a:ln xmlns:a="http://schemas.openxmlformats.org/drawingml/2006/main" w="19050">
            <a:solidFill>
              <a:srgbClr val="6474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4A3B8"/>
                </a:solidFill>
              </a:defRPr>
            </a:pPr>
            <a:r>
              <a:rPr sz="1425" b="1">
                <a:solidFill>
                  <a:srgbClr val="94A3B8"/>
                </a:solidFill>
              </a:rPr>
              <a:t>CALENDAR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59397-D37B-43F1-B439-2B638F04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95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sau MVP / mock trước</a:t>
            </a:r>
          </a:p>
        </p:txBody>
      </p:sp>
    </p:spTree>
    <p:extLst>
      <p:ext uri="{BB962C8B-B14F-4D97-AF65-F5344CB8AC3E}">
        <p14:creationId xmlns:p14="http://schemas.microsoft.com/office/powerpoint/2010/main" val="1357924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3-index">
            <a:extLst xmlns:a="http://schemas.openxmlformats.org/drawingml/2006/main">
              <a:ext uri="{FF2B5EF4-FFF2-40B4-BE49-F238E27FC236}">
                <a16:creationId xmlns:a16="http://schemas.microsoft.com/office/drawing/2014/main" id="{64CD6A2E-EC00-43CF-8BA0-7ADDD722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</a:defRPr>
            </a:pPr>
            <a:r>
              <a:rPr sz="1275" b="1">
                <a:solidFill>
                  <a:srgbClr val="38BDF8"/>
                </a:solidFill>
              </a:rPr>
              <a:t>03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66D3800-84B1-44A6-887B-66395814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8FAFC"/>
                </a:solidFill>
              </a:defRPr>
            </a:pPr>
            <a:r>
              <a:rPr sz="2925" b="1">
                <a:solidFill>
                  <a:srgbClr val="F8FAFC"/>
                </a:solidFill>
              </a:rPr>
              <a:t>7 ngày để có live demo</a:t>
            </a:r>
          </a:p>
        </p:txBody>
      </p:sp>
      <p:sp>
        <p:nvSpPr>
          <p:cNvPr id="3" name="slide-3-project">
            <a:extLst xmlns:a="http://schemas.openxmlformats.org/drawingml/2006/main">
              <a:ext uri="{FF2B5EF4-FFF2-40B4-BE49-F238E27FC236}">
                <a16:creationId xmlns:a16="http://schemas.microsoft.com/office/drawing/2014/main" id="{E1EB4735-32D1-4140-8FE3-96670168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524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4A3B8"/>
                </a:solidFill>
              </a:defRPr>
            </a:pPr>
            <a:r>
              <a:rPr sz="1125" b="1">
                <a:solidFill>
                  <a:srgbClr val="94A3B8"/>
                </a:solidFill>
              </a:rPr>
              <a:t>P-046 · XHOME VISITOPS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8FAC1-4D24-44C1-9037-88CC01BF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5" name="day-1">
            <a:extLst xmlns:a="http://schemas.openxmlformats.org/drawingml/2006/main">
              <a:ext uri="{FF2B5EF4-FFF2-40B4-BE49-F238E27FC236}">
                <a16:creationId xmlns:a16="http://schemas.microsoft.com/office/drawing/2014/main" id="{8157A6D5-B1F7-4EE4-823B-7041ABD4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4A3B8"/>
                </a:solidFill>
              </a:defRPr>
            </a:pPr>
            <a:r>
              <a:rPr sz="1275" b="1">
                <a:solidFill>
                  <a:srgbClr val="94A3B8"/>
                </a:solidFill>
              </a:rPr>
              <a:t>D1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5D279-6322-432D-9C5A-5C579F7E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621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7" name="day-2">
            <a:extLst xmlns:a="http://schemas.openxmlformats.org/drawingml/2006/main">
              <a:ext uri="{FF2B5EF4-FFF2-40B4-BE49-F238E27FC236}">
                <a16:creationId xmlns:a16="http://schemas.microsoft.com/office/drawing/2014/main" id="{B384F67D-E175-4A98-B1CB-0C0C9132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6668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4A3B8"/>
                </a:solidFill>
              </a:defRPr>
            </a:pPr>
            <a:r>
              <a:rPr sz="1275" b="1">
                <a:solidFill>
                  <a:srgbClr val="94A3B8"/>
                </a:solidFill>
              </a:rPr>
              <a:t>D2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B56C6-7195-4BA8-9F8B-14062373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9621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9" name="day-3">
            <a:extLst xmlns:a="http://schemas.openxmlformats.org/drawingml/2006/main">
              <a:ext uri="{FF2B5EF4-FFF2-40B4-BE49-F238E27FC236}">
                <a16:creationId xmlns:a16="http://schemas.microsoft.com/office/drawing/2014/main" id="{31B0E935-CCCF-4BD8-80A7-24EA46E2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6668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4A3B8"/>
                </a:solidFill>
              </a:defRPr>
            </a:pPr>
            <a:r>
              <a:rPr sz="1275" b="1">
                <a:solidFill>
                  <a:srgbClr val="94A3B8"/>
                </a:solidFill>
              </a:rPr>
              <a:t>D3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5F451-ABA8-4B96-8221-5C2D98D1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621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1" name="day-4">
            <a:extLst xmlns:a="http://schemas.openxmlformats.org/drawingml/2006/main">
              <a:ext uri="{FF2B5EF4-FFF2-40B4-BE49-F238E27FC236}">
                <a16:creationId xmlns:a16="http://schemas.microsoft.com/office/drawing/2014/main" id="{F4A6829E-342D-4E92-BB39-74C1513B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6668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4A3B8"/>
                </a:solidFill>
              </a:defRPr>
            </a:pPr>
            <a:r>
              <a:rPr sz="1275" b="1">
                <a:solidFill>
                  <a:srgbClr val="94A3B8"/>
                </a:solidFill>
              </a:rPr>
              <a:t>D4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3C02D-B15E-4695-87D4-CC86F5AC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9621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3" name="day-5">
            <a:extLst xmlns:a="http://schemas.openxmlformats.org/drawingml/2006/main">
              <a:ext uri="{FF2B5EF4-FFF2-40B4-BE49-F238E27FC236}">
                <a16:creationId xmlns:a16="http://schemas.microsoft.com/office/drawing/2014/main" id="{0DFABEC2-0920-44A3-8864-FD51CF07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6668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4A3B8"/>
                </a:solidFill>
              </a:defRPr>
            </a:pPr>
            <a:r>
              <a:rPr sz="1275" b="1">
                <a:solidFill>
                  <a:srgbClr val="94A3B8"/>
                </a:solidFill>
              </a:rPr>
              <a:t>D5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0C8BA-48E1-45CF-BB11-DDBD5824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9621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5" name="day-6">
            <a:extLst xmlns:a="http://schemas.openxmlformats.org/drawingml/2006/main">
              <a:ext uri="{FF2B5EF4-FFF2-40B4-BE49-F238E27FC236}">
                <a16:creationId xmlns:a16="http://schemas.microsoft.com/office/drawing/2014/main" id="{69D4F781-1982-4604-980B-41455E16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668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4A3B8"/>
                </a:solidFill>
              </a:defRPr>
            </a:pPr>
            <a:r>
              <a:rPr sz="1275" b="1">
                <a:solidFill>
                  <a:srgbClr val="94A3B8"/>
                </a:solidFill>
              </a:rPr>
              <a:t>D6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1A7FD-7F44-4AD6-9D56-90E0FEF5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621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7" name="day-7">
            <a:extLst xmlns:a="http://schemas.openxmlformats.org/drawingml/2006/main">
              <a:ext uri="{FF2B5EF4-FFF2-40B4-BE49-F238E27FC236}">
                <a16:creationId xmlns:a16="http://schemas.microsoft.com/office/drawing/2014/main" id="{51F8413D-CD31-40DC-8A6B-4C1E07EF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6668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4A3B8"/>
                </a:solidFill>
              </a:defRPr>
            </a:pPr>
            <a:r>
              <a:rPr sz="1275" b="1">
                <a:solidFill>
                  <a:srgbClr val="94A3B8"/>
                </a:solidFill>
              </a:rPr>
              <a:t>D7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F2286-172E-453F-8CB6-AF9AEBD4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9621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19" name="roadmap-bar-0">
            <a:extLst xmlns:a="http://schemas.openxmlformats.org/drawingml/2006/main">
              <a:ext uri="{FF2B5EF4-FFF2-40B4-BE49-F238E27FC236}">
                <a16:creationId xmlns:a16="http://schemas.microsoft.com/office/drawing/2014/main" id="{DE545E89-C631-45E5-B511-411BEE2A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8859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Backend + Data</a:t>
            </a:r>
          </a:p>
        </p:txBody>
      </p:sp>
      <p:sp>
        <p:nvSpPr>
          <p:cNvPr id="20" name="roadmap-bar-1">
            <a:extLst xmlns:a="http://schemas.openxmlformats.org/drawingml/2006/main">
              <a:ext uri="{FF2B5EF4-FFF2-40B4-BE49-F238E27FC236}">
                <a16:creationId xmlns:a16="http://schemas.microsoft.com/office/drawing/2014/main" id="{79F1D2CB-428C-454C-93C8-AF577534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67000"/>
            <a:ext cx="18859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19050">
            <a:solidFill>
              <a:srgbClr val="A78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Agent tools</a:t>
            </a:r>
          </a:p>
        </p:txBody>
      </p:sp>
      <p:sp>
        <p:nvSpPr>
          <p:cNvPr id="21" name="roadmap-bar-2">
            <a:extLst xmlns:a="http://schemas.openxmlformats.org/drawingml/2006/main">
              <a:ext uri="{FF2B5EF4-FFF2-40B4-BE49-F238E27FC236}">
                <a16:creationId xmlns:a16="http://schemas.microsoft.com/office/drawing/2014/main" id="{C3968D76-61B2-4804-8D25-55813406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38500"/>
            <a:ext cx="28765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Frontend</a:t>
            </a:r>
          </a:p>
        </p:txBody>
      </p:sp>
      <p:sp>
        <p:nvSpPr>
          <p:cNvPr id="22" name="roadmap-bar-3">
            <a:extLst xmlns:a="http://schemas.openxmlformats.org/drawingml/2006/main">
              <a:ext uri="{FF2B5EF4-FFF2-40B4-BE49-F238E27FC236}">
                <a16:creationId xmlns:a16="http://schemas.microsoft.com/office/drawing/2014/main" id="{F90C56BE-96A3-4D76-8A4D-83182D1B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10000"/>
            <a:ext cx="18859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Integration</a:t>
            </a:r>
          </a:p>
        </p:txBody>
      </p:sp>
      <p:sp>
        <p:nvSpPr>
          <p:cNvPr id="23" name="roadmap-bar-4">
            <a:extLst xmlns:a="http://schemas.openxmlformats.org/drawingml/2006/main">
              <a:ext uri="{FF2B5EF4-FFF2-40B4-BE49-F238E27FC236}">
                <a16:creationId xmlns:a16="http://schemas.microsoft.com/office/drawing/2014/main" id="{14D91254-555D-4AFB-A301-2EB16B68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81500"/>
            <a:ext cx="18859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Test + Deploy</a:t>
            </a:r>
          </a:p>
        </p:txBody>
      </p:sp>
      <p:sp>
        <p:nvSpPr>
          <p:cNvPr id="24" name="roadmap-bar-5">
            <a:extLst xmlns:a="http://schemas.openxmlformats.org/drawingml/2006/main">
              <a:ext uri="{FF2B5EF4-FFF2-40B4-BE49-F238E27FC236}">
                <a16:creationId xmlns:a16="http://schemas.microsoft.com/office/drawing/2014/main" id="{B47CA9E5-00D5-4549-9F3E-90799581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8953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19050">
            <a:solidFill>
              <a:srgbClr val="FB718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426"/>
                </a:solidFill>
              </a:defRPr>
            </a:pPr>
            <a:r>
              <a:rPr sz="1350" b="1">
                <a:solidFill>
                  <a:srgbClr val="071426"/>
                </a:solidFill>
              </a:rPr>
              <a:t>Polish</a:t>
            </a:r>
          </a:p>
        </p:txBody>
      </p:sp>
      <p:sp>
        <p:nvSpPr>
          <p:cNvPr id="25" name="live-demo-arrow">
            <a:extLst xmlns:a="http://schemas.openxmlformats.org/drawingml/2006/main">
              <a:ext uri="{FF2B5EF4-FFF2-40B4-BE49-F238E27FC236}">
                <a16:creationId xmlns:a16="http://schemas.microsoft.com/office/drawing/2014/main" id="{9DAFEC68-6DD8-4E7F-809A-9B8189B6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81275"/>
            <a:ext cx="304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F77E2-CC32-4949-A943-67D680C2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D4BF"/>
                </a:solidFill>
              </a:defRPr>
            </a:pPr>
            <a:r>
              <a:rPr sz="1500" b="1">
                <a:solidFill>
                  <a:srgbClr val="2DD4BF"/>
                </a:solidFill>
              </a:rPr>
              <a:t>LIVE</a:t>
            </a:r>
          </a:p>
        </p:txBody>
      </p:sp>
      <p:sp>
        <p:nvSpPr>
          <p:cNvPr id="27" name="live-demo-node">
            <a:extLst xmlns:a="http://schemas.openxmlformats.org/drawingml/2006/main">
              <a:ext uri="{FF2B5EF4-FFF2-40B4-BE49-F238E27FC236}">
                <a16:creationId xmlns:a16="http://schemas.microsoft.com/office/drawing/2014/main" id="{C8D2EA36-F6BA-4DEB-927A-28146206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1047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C302C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5BA834-496B-4DA2-9ECD-43571FE1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BBF24"/>
                </a:solidFill>
              </a:defRPr>
            </a:pPr>
            <a:r>
              <a:rPr sz="1350" b="1">
                <a:solidFill>
                  <a:srgbClr val="FBBF24"/>
                </a:solidFill>
              </a:rPr>
              <a:t>MENTOR CHỐT</a:t>
            </a:r>
          </a:p>
        </p:txBody>
      </p:sp>
      <p:sp>
        <p:nvSpPr>
          <p:cNvPr id="29" name="mentor-decision-0">
            <a:extLst xmlns:a="http://schemas.openxmlformats.org/drawingml/2006/main">
              <a:ext uri="{FF2B5EF4-FFF2-40B4-BE49-F238E27FC236}">
                <a16:creationId xmlns:a16="http://schemas.microsoft.com/office/drawing/2014/main" id="{09209BA4-0569-4FF7-BD23-D4E8A6F9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2095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Calendar thật?</a:t>
            </a:r>
          </a:p>
        </p:txBody>
      </p:sp>
      <p:sp>
        <p:nvSpPr>
          <p:cNvPr id="30" name="mentor-decision-1">
            <a:extLst xmlns:a="http://schemas.openxmlformats.org/drawingml/2006/main">
              <a:ext uri="{FF2B5EF4-FFF2-40B4-BE49-F238E27FC236}">
                <a16:creationId xmlns:a16="http://schemas.microsoft.com/office/drawing/2014/main" id="{C5BFA78E-3981-43EB-B9F9-D5A17AAF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2095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HITL mức nào?</a:t>
            </a:r>
          </a:p>
        </p:txBody>
      </p:sp>
      <p:sp>
        <p:nvSpPr>
          <p:cNvPr id="31" name="mentor-decision-2">
            <a:extLst xmlns:a="http://schemas.openxmlformats.org/drawingml/2006/main">
              <a:ext uri="{FF2B5EF4-FFF2-40B4-BE49-F238E27FC236}">
                <a16:creationId xmlns:a16="http://schemas.microsoft.com/office/drawing/2014/main" id="{755C2CA3-C4AA-4080-B8FE-960E0AD4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91000"/>
            <a:ext cx="2095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Eval tối thiểu?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C9588-EF52-4DE9-80E2-285FE042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81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DD4BF"/>
                </a:solidFill>
              </a:defRPr>
            </a:pPr>
            <a:r>
              <a:rPr sz="1275" b="1">
                <a:solidFill>
                  <a:srgbClr val="2DD4BF"/>
                </a:solidFill>
              </a:rPr>
              <a:t>MỤC TIÊU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800405-1374-4AEC-9D40-D214736D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578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chat → sale duyệt</a:t>
            </a:r>
          </a:p>
          <a:p xmlns:a="http://schemas.openxmlformats.org/drawingml/2006/main">
            <a:pPr algn="ctr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→ appointment + hold</a:t>
            </a:r>
          </a:p>
        </p:txBody>
      </p:sp>
    </p:spTree>
    <p:extLst>
      <p:ext uri="{BB962C8B-B14F-4D97-AF65-F5344CB8AC3E}">
        <p14:creationId xmlns:p14="http://schemas.microsoft.com/office/powerpoint/2010/main" val="1427742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2026-08-01T13:36:37.2400000Z</dcterms:created>
  <dcterms:modified xsi:type="dcterms:W3CDTF">2026-08-01T13:36:37.2400000Z</dcterms:modified>
</coreProperties>
</file>